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HP Pro\Desktop\automata_proyecto\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706831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0" y="13716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0" y="1920240"/>
            <a:ext cx="6217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Autómata Apilador (PDA)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5486400" y="3108960"/>
            <a:ext cx="6217920" cy="0"/>
          </a:xfrm>
          <a:prstGeom prst="line">
            <a:avLst/>
          </a:prstGeom>
          <a:noFill/>
          <a:ln w="31750">
            <a:solidFill>
              <a:srgbClr val="C46D5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0" y="32918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Victoria en Esgrima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486400" y="4389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0" y="4389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0" y="4846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0" y="4846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0" y="5303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(13 transiciones)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0" y="5303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303520" y="4206240"/>
            <a:ext cx="658368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0" y="4389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955280" y="4389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0" y="4846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955280" y="4846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0" y="5303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955280" y="53035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(13 transiciones)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86400" y="6217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Alonso Inostrosa Psijas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Dominio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— ¿por qué es el dominio ideal para este autómata?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Combate de florete entre dos tiradores: el Atacante y el Defensor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Atacante puede ejecutar un tocado — esto garantiza que solo uno puede ganar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distancias forman una escalera de cinco posiciones que se pueden recorrer hacia adelante y hacia atrás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solo puede retroceder o fallar la parada — nunca puede ganar por sus propias acciones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hace al dominio ideal: hay dos roles, una escalera de estados, y un solo ganador posible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Formal del Autómata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siete componentes que definen completamente el PDA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— tres estados: turno del atacante, turno del defensor, y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— cuatro acciones: avanzar y hacer tocado para el atacante; retroceder y fallar la parada para el defensor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— cinco símbolos de la pila: las cinco posiciones del combate (En Garde, Largo, Medio, Corto, Corps-à-corps)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q₀ y Z₀ — el autómata siempre empieza con el turno del atacante parado en la posición de guardia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— el único estado de aceptación es la victoria, que solo el atacante puede alcanzar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— Por qué necesitamos un PDA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alcanza un autómata finito (AFD)?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avance apila la nueva posición — la pila crece y recuerda el historial completo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retirada desapila el tope — el autómata vuelve exactamente a donde estaba antes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parada fallida no cambia la pila — solo pasa el turno sin mover la posición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AFD no tiene memoria: no puede saber a qué posición exacta regresar luego de varias retiradas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resuelve esto — por eso necesitamos un PDA y no un autómata finito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Estados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estados, cuatro tipos de flechas, un solo camino a la victoria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5669280" cy="4206240"/>
          </a:xfrm>
          <a:prstGeom prst="rect">
            <a:avLst/>
          </a:prstGeom>
          <a:solidFill>
            <a:srgbClr val="F0F0F0"/>
          </a:solidFill>
          <a:ln/>
        </p:spPr>
      </p:sp>
      <p:pic>
        <p:nvPicPr>
          <p:cNvPr id="11" name="Image 0" descr="C:\Users\HP Pro\Desktop\automata_proyecto\grafo_p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20240"/>
            <a:ext cx="5669280" cy="4206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0" y="2011680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3" name="Text 10"/>
          <p:cNvSpPr/>
          <p:nvPr/>
        </p:nvSpPr>
        <p:spPr>
          <a:xfrm>
            <a:off x="6629400" y="1920240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q_a — turno del atacante (estado inicial)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629400" y="2491087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612571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6" name="Text 13"/>
          <p:cNvSpPr/>
          <p:nvPr/>
        </p:nvSpPr>
        <p:spPr>
          <a:xfrm>
            <a:off x="6629400" y="2521131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q_d — turno del defensor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629400" y="3091978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3213463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9" name="Text 16"/>
          <p:cNvSpPr/>
          <p:nvPr/>
        </p:nvSpPr>
        <p:spPr>
          <a:xfrm>
            <a:off x="6629400" y="3122023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q_v — victoria (doble círculo = acepta)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629400" y="3692870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0" y="3814354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2" name="Text 19"/>
          <p:cNvSpPr/>
          <p:nvPr/>
        </p:nvSpPr>
        <p:spPr>
          <a:xfrm>
            <a:off x="6629400" y="3722914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el atacante avanza y apila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629400" y="4293761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0" y="4415246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4323806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el defensor retrocede y desapila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629400" y="4894653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00800" y="5016137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8" name="Text 25"/>
          <p:cNvSpPr/>
          <p:nvPr/>
        </p:nvSpPr>
        <p:spPr>
          <a:xfrm>
            <a:off x="6629400" y="4924697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Punteado: parada fallida, nada cambia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629400" y="5495544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0" y="5617029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31" name="Text 28"/>
          <p:cNvSpPr/>
          <p:nvPr/>
        </p:nvSpPr>
        <p:spPr>
          <a:xfrm>
            <a:off x="6629400" y="5525589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Dorado: tocado desde la posición más cercana — única forma de ganar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33" name="Text 30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Transiciones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reglas que describen todos los movimientos posibles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cinco reglas para el atacante: cuatro de avance y una de tocado que lleva a la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tocado solo es válido cuando el atacante está en corps-à-corps, la posición más cercana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retirada: el defensor retrocede desde cualquier posición, excepto desde la guardia inicial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parada fallida: no cambia nada, solo pasa el turno al atacante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intenta una acción que no tiene regla definida, el autómata rechaza la cadena inmediatamente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ACEPTADA — Estado Inicial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0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—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inicial: el atacante toma posición en q_a. La pila comienza con G (En Garde).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55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ACEPTADA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avance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PUSH (L)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hacia Largo. Se apila L. El turno pasa al defensor (q_d).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159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692640" y="21488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92640" y="21488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ACEPTADA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2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parada_fallida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NO-OP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falla la parada. La pila no cambia. El turno vuelve al atacante (q_a).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55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692640" y="21488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92640" y="21488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ACEPTADA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3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avance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PUSH (M)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hacia Medio. Se apila M. Turno al defensor.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159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692640" y="21488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92640" y="21488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692640" y="26060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92640" y="26060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ACEPTADA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4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retirada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POP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retrocede. Se desapila M. El atacante regresa a Largo. Turno al atacante.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55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692640" y="21488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92640" y="21488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ACEPTADA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5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avance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PUSH (M)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re-avanza a Medio. Se apila M de nuevo. Turno al defensor.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159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692640" y="21488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92640" y="21488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692640" y="26060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92640" y="26060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ACEPTADA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6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parada_fallida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NO-OP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vuelve a fallar. La pila no cambia. Turno al atacante.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55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692640" y="21488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92640" y="21488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692640" y="26060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92640" y="26060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ACEPTADA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7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avance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PUSH (C)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Corto. Se apila C. La distancia es muy peligrosa ya. Turno al defensor.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159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692640" y="21488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92640" y="21488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692640" y="26060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92640" y="26060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9692640" y="30632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692640" y="30632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ACEPTADA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8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parada_fallida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NO-OP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falla de nuevo. La pila no cambia. Turno al atacante.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55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692640" y="21488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92640" y="21488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692640" y="26060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92640" y="26060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9692640" y="30632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692640" y="30632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ACEPTADA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9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avance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PUSH (CC)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Corps-à-corps. Se apila CC. El defensor está acorralado. Turno al defensor.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159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692640" y="21488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92640" y="21488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692640" y="26060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92640" y="26060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9692640" y="30632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692640" y="30632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9692640" y="35204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92640" y="35204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ACEPTADA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10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parada_fallida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NO-OP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falla su última parada. No hay más espacio. La pila no cambia. Turno al atacante.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55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692640" y="21488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92640" y="21488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692640" y="26060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92640" y="26060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9692640" y="30632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692640" y="30632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9692640" y="35204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92640" y="35204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ACEPTADA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11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tocado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ACEPTAR → q_v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ejecuta el tocado desde CC. La transición lleva a q_v (victoria). ¡Cadena aceptada!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3348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FF6B3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692640" y="21488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92640" y="21488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692640" y="26060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92640" y="26060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9692640" y="30632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692640" y="30632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9692640" y="35204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92640" y="35204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4320" y="5943600"/>
            <a:ext cx="8686800" cy="640080"/>
          </a:xfrm>
          <a:prstGeom prst="roundRect">
            <a:avLst>
              <a:gd name="adj" fmla="val 14286"/>
            </a:avLst>
          </a:prstGeom>
          <a:solidFill>
            <a:srgbClr val="0A2A0A"/>
          </a:solidFill>
          <a:ln w="25400">
            <a:solidFill>
              <a:srgbClr val="50C0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594360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0E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CADENA ACEPTADA — pertenece al lenguaje del autómata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ACEPTADA — RESULTADO FINAL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12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—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autómata termina en el estado de aceptación q_v. La cadena pertenece al lenguaje L(PDA).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3348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FF6B3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692640" y="21488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92640" y="21488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692640" y="26060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92640" y="26060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9692640" y="30632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692640" y="30632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9692640" y="35204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92640" y="35204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4320" y="5943600"/>
            <a:ext cx="8686800" cy="640080"/>
          </a:xfrm>
          <a:prstGeom prst="roundRect">
            <a:avLst>
              <a:gd name="adj" fmla="val 14286"/>
            </a:avLst>
          </a:prstGeom>
          <a:solidFill>
            <a:srgbClr val="0A2A0A"/>
          </a:solidFill>
          <a:ln w="25400">
            <a:solidFill>
              <a:srgbClr val="50C0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594360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0E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CADENA ACEPTADA — pertenece al lenguaje del autómata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RECHAZADA — Estado Inicial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0 /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—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inicial: el atacante toma posición en q_a. La pila comienza con G (En Garde).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55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RECHAZADA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 /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avance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PUSH (L)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Largo. Se apila L. Turno al defensor.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159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692640" y="21488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3A4060"/>
          </a:solidFill>
          <a:ln w="12700">
            <a:solidFill>
              <a:srgbClr val="3A45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92640" y="21488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RECHAZADA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2 /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retirada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POP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retrocede. Se desapila L. El atacante regresa a la guardia inicial. Turno al atacante.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55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RECHAZADA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3 /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tocado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Ø — sin transición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intenta el tocado con el tope G. No existe δ(q_a, tocado, G). El autómata rechaza.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55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5943600"/>
            <a:ext cx="8686800" cy="640080"/>
          </a:xfrm>
          <a:prstGeom prst="roundRect">
            <a:avLst>
              <a:gd name="adj" fmla="val 14286"/>
            </a:avLst>
          </a:prstGeom>
          <a:solidFill>
            <a:srgbClr val="2A0A0A"/>
          </a:solidFill>
          <a:ln w="25400">
            <a:solidFill>
              <a:srgbClr val="E050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594360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CADENA RECHAZADA — no existe transición definida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54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TRAZA RECHAZADA — RESULTADO FINAL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241280" y="548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4 /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292608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49377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A1A0A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4937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▶  leyendo: 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34640" y="493776"/>
            <a:ext cx="2926080" cy="256032"/>
          </a:xfrm>
          <a:prstGeom prst="roundRect">
            <a:avLst>
              <a:gd name="adj" fmla="val 14286"/>
            </a:avLst>
          </a:prstGeom>
          <a:solidFill>
            <a:srgbClr val="0A1A2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493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  acción: —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804672"/>
            <a:ext cx="116403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autómata no alcanza ningún estado de aceptación. La cadena NO pertenece al lenguaje L(PDA).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1143000"/>
            <a:ext cx="11640312" cy="0"/>
          </a:xfrm>
          <a:prstGeom prst="line">
            <a:avLst/>
          </a:prstGeom>
          <a:noFill/>
          <a:ln w="12700">
            <a:solidFill>
              <a:srgbClr val="2A30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5568" y="2761488"/>
            <a:ext cx="1426464" cy="1426464"/>
          </a:xfrm>
          <a:prstGeom prst="ellipse">
            <a:avLst/>
          </a:prstGeom>
          <a:solidFill>
            <a:srgbClr val="3A2010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2834640"/>
            <a:ext cx="1280160" cy="1280160"/>
          </a:xfrm>
          <a:prstGeom prst="ellipse">
            <a:avLst/>
          </a:prstGeom>
          <a:solidFill>
            <a:srgbClr val="2A1505"/>
          </a:solidFill>
          <a:ln w="25400">
            <a:solidFill>
              <a:srgbClr val="FF6B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06640" y="2834640"/>
            <a:ext cx="1280160" cy="1280160"/>
          </a:xfrm>
          <a:prstGeom prst="ellipse">
            <a:avLst/>
          </a:prstGeom>
          <a:solidFill>
            <a:srgbClr val="12152A"/>
          </a:solidFill>
          <a:ln w="25400">
            <a:solidFill>
              <a:srgbClr val="4A50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26080"/>
            <a:ext cx="1097280" cy="1097280"/>
          </a:xfrm>
          <a:prstGeom prst="ellipse">
            <a:avLst/>
          </a:prstGeom>
          <a:ln w="12700">
            <a:solidFill>
              <a:srgbClr val="4A5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0" y="327355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36118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9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3017520"/>
            <a:ext cx="182880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834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14600" y="3931920"/>
            <a:ext cx="1828800" cy="0"/>
          </a:xfrm>
          <a:prstGeom prst="line">
            <a:avLst/>
          </a:prstGeom>
          <a:noFill/>
          <a:ln w="19050">
            <a:solidFill>
              <a:srgbClr val="E05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3977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5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retirada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14600" y="3657600"/>
            <a:ext cx="1828800" cy="0"/>
          </a:xfrm>
          <a:prstGeom prst="line">
            <a:avLst/>
          </a:prstGeom>
          <a:noFill/>
          <a:ln w="12700">
            <a:solidFill>
              <a:srgbClr val="80604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68880" y="34015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06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parada_fallida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14600" y="3474720"/>
            <a:ext cx="4892040" cy="0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32461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(CC)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548640" cy="0"/>
          </a:xfrm>
          <a:prstGeom prst="line">
            <a:avLst/>
          </a:prstGeom>
          <a:noFill/>
          <a:ln w="19050">
            <a:solidFill>
              <a:srgbClr val="D0D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661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01200" y="1280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9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0" y="1572768"/>
            <a:ext cx="2103120" cy="0"/>
          </a:xfrm>
          <a:prstGeom prst="line">
            <a:avLst/>
          </a:prstGeom>
          <a:noFill/>
          <a:ln w="12700">
            <a:solidFill>
              <a:srgbClr val="3A406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92640" y="1691640"/>
            <a:ext cx="1920240" cy="402336"/>
          </a:xfrm>
          <a:prstGeom prst="roundRect">
            <a:avLst>
              <a:gd name="adj" fmla="val 13636"/>
            </a:avLst>
          </a:prstGeom>
          <a:solidFill>
            <a:srgbClr val="2A1A02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92640" y="169164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03920" y="176479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tope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5943600"/>
            <a:ext cx="8686800" cy="640080"/>
          </a:xfrm>
          <a:prstGeom prst="roundRect">
            <a:avLst>
              <a:gd name="adj" fmla="val 14286"/>
            </a:avLst>
          </a:prstGeom>
          <a:solidFill>
            <a:srgbClr val="2A0A0A"/>
          </a:solidFill>
          <a:ln w="25400">
            <a:solidFill>
              <a:srgbClr val="E050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594360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CADENA RECHAZADA — no existe transición definida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2152A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2026-07-08T01:54:39Z</dcterms:created>
  <dcterms:modified xsi:type="dcterms:W3CDTF">2026-07-08T01:54:39Z</dcterms:modified>
</cp:coreProperties>
</file>