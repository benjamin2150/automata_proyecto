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C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7C6FFF"/>
          </a:solidFill>
          <a:ln/>
        </p:spPr>
      </p:sp>
      <p:sp>
        <p:nvSpPr>
          <p:cNvPr id="4" name="Shape 2"/>
          <p:cNvSpPr/>
          <p:nvPr/>
        </p:nvSpPr>
        <p:spPr>
          <a:xfrm>
            <a:off x="8412480" y="-1097280"/>
            <a:ext cx="4572000" cy="4572000"/>
          </a:xfrm>
          <a:prstGeom prst="ellipse">
            <a:avLst/>
          </a:prstGeom>
          <a:solidFill>
            <a:srgbClr val="1E1B4B"/>
          </a:solidFill>
          <a:ln w="12700">
            <a:solidFill>
              <a:srgbClr val="2520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097280" y="5029200"/>
            <a:ext cx="3200400" cy="3200400"/>
          </a:xfrm>
          <a:prstGeom prst="ellipse">
            <a:avLst/>
          </a:prstGeom>
          <a:solidFill>
            <a:srgbClr val="0C1E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868680"/>
            <a:ext cx="5303520" cy="320040"/>
          </a:xfrm>
          <a:prstGeom prst="roundRect">
            <a:avLst>
              <a:gd name="adj" fmla="val 42857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896112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y Lenguajes Formales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80160"/>
            <a:ext cx="3200400" cy="320040"/>
          </a:xfrm>
          <a:prstGeom prst="roundRect">
            <a:avLst>
              <a:gd name="adj" fmla="val 42857"/>
            </a:avLst>
          </a:prstGeom>
          <a:solidFill>
            <a:srgbClr val="1A1F35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30759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Alonso Inostrosa Psijas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8288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Autómata Apilador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548640" y="26060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Victoria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548640" y="3657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de Aplicación: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950208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🤺  Esgrima (Fencing)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4617720"/>
            <a:ext cx="2514600" cy="320040"/>
          </a:xfrm>
          <a:prstGeom prst="roundRect">
            <a:avLst>
              <a:gd name="adj" fmla="val 42857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64515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6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/ Pushdown Automaton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4617720"/>
            <a:ext cx="2331720" cy="320040"/>
          </a:xfrm>
          <a:prstGeom prst="roundRect">
            <a:avLst>
              <a:gd name="adj" fmla="val 42857"/>
            </a:avLst>
          </a:prstGeom>
          <a:solidFill>
            <a:srgbClr val="0D302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464515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Posiciones de Estado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0" y="4617720"/>
            <a:ext cx="1691640" cy="320040"/>
          </a:xfrm>
          <a:prstGeom prst="roundRect">
            <a:avLst>
              <a:gd name="adj" fmla="val 42857"/>
            </a:avLst>
          </a:prstGeom>
          <a:solidFill>
            <a:srgbClr val="3D2D08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464515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Transiciones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98080" y="4617720"/>
            <a:ext cx="2331720" cy="320040"/>
          </a:xfrm>
          <a:prstGeom prst="roundRect">
            <a:avLst>
              <a:gd name="adj" fmla="val 42857"/>
            </a:avLst>
          </a:prstGeom>
          <a:solidFill>
            <a:srgbClr val="3D121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0" y="464515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1 ganador posible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C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7C6FFF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64592"/>
            <a:ext cx="3200400" cy="292608"/>
          </a:xfrm>
          <a:prstGeom prst="roundRect">
            <a:avLst>
              <a:gd name="adj" fmla="val 37500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Dominio de Aplicación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Esgrima: el combate como lenguaje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5303520" cy="2240280"/>
          </a:xfrm>
          <a:prstGeom prst="roundRect">
            <a:avLst>
              <a:gd name="adj" fmla="val 4898"/>
            </a:avLst>
          </a:prstGeom>
          <a:solidFill>
            <a:srgbClr val="141828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38988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del combate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🗡️  Tirador A — Atacante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08483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 hacia el contrincante para ejecutar un tocado válido.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487168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Tirador O — Defensor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278892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Retrocede o para el avance. Nunca puede ganar por sus propias acciones.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280160"/>
            <a:ext cx="5486400" cy="2240280"/>
          </a:xfrm>
          <a:prstGeom prst="roundRect">
            <a:avLst>
              <a:gd name="adj" fmla="val 4898"/>
            </a:avLst>
          </a:prstGeom>
          <a:solidFill>
            <a:srgbClr val="14182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3898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Esgrima?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17920" y="181051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Solo el atacante puede hacer tocado → 1 ganador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2240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Distancias forman escalera lineal de avance/retroceso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0" y="267004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Reversibilidad parcial (retirada) es natural y clara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3099816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La pila recuerda el historial sin memoria arbitraria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703320"/>
            <a:ext cx="11155680" cy="2880360"/>
          </a:xfrm>
          <a:prstGeom prst="roundRect">
            <a:avLst>
              <a:gd name="adj" fmla="val 3810"/>
            </a:avLst>
          </a:prstGeom>
          <a:solidFill>
            <a:srgbClr val="141828"/>
          </a:solidFill>
          <a:ln w="12700">
            <a:solidFill>
              <a:srgbClr val="2520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79476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Escalera de Distancias — 5 Posiciones que pueden revertirse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279392"/>
            <a:ext cx="914400" cy="914400"/>
          </a:xfrm>
          <a:prstGeom prst="ellipse">
            <a:avLst/>
          </a:prstGeom>
          <a:solidFill>
            <a:srgbClr val="1E1B4B"/>
          </a:solidFill>
          <a:ln w="22860">
            <a:solidFill>
              <a:srgbClr val="7C6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3708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52578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Garde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(inicio)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572768" y="4736592"/>
            <a:ext cx="822960" cy="0"/>
          </a:xfrm>
          <a:prstGeom prst="line">
            <a:avLst/>
          </a:prstGeom>
          <a:noFill/>
          <a:ln w="2286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554480" y="4498848"/>
            <a:ext cx="868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441448" y="4279392"/>
            <a:ext cx="914400" cy="914400"/>
          </a:xfrm>
          <a:prstGeom prst="ellipse">
            <a:avLst/>
          </a:prstGeom>
          <a:solidFill>
            <a:srgbClr val="1E1B4B"/>
          </a:solidFill>
          <a:ln w="22860">
            <a:solidFill>
              <a:srgbClr val="7C6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43708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350008" y="52578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374136" y="4736592"/>
            <a:ext cx="822960" cy="0"/>
          </a:xfrm>
          <a:prstGeom prst="line">
            <a:avLst/>
          </a:prstGeom>
          <a:noFill/>
          <a:ln w="2286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3355848" y="4498848"/>
            <a:ext cx="868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242816" y="4279392"/>
            <a:ext cx="914400" cy="914400"/>
          </a:xfrm>
          <a:prstGeom prst="ellipse">
            <a:avLst/>
          </a:prstGeom>
          <a:solidFill>
            <a:srgbClr val="1E1B4B"/>
          </a:solidFill>
          <a:ln w="22860">
            <a:solidFill>
              <a:srgbClr val="7C6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42816" y="43708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151376" y="52578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175504" y="4736592"/>
            <a:ext cx="822960" cy="0"/>
          </a:xfrm>
          <a:prstGeom prst="line">
            <a:avLst/>
          </a:prstGeom>
          <a:noFill/>
          <a:ln w="2286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5157216" y="4498848"/>
            <a:ext cx="868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044184" y="4279392"/>
            <a:ext cx="914400" cy="914400"/>
          </a:xfrm>
          <a:prstGeom prst="ellipse">
            <a:avLst/>
          </a:prstGeom>
          <a:solidFill>
            <a:srgbClr val="1E1B4B"/>
          </a:solidFill>
          <a:ln w="22860">
            <a:solidFill>
              <a:srgbClr val="7C6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44184" y="43708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5952744" y="52578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976872" y="4736592"/>
            <a:ext cx="822960" cy="0"/>
          </a:xfrm>
          <a:prstGeom prst="line">
            <a:avLst/>
          </a:prstGeom>
          <a:noFill/>
          <a:ln w="2286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6958584" y="4498848"/>
            <a:ext cx="868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845552" y="4279392"/>
            <a:ext cx="914400" cy="914400"/>
          </a:xfrm>
          <a:prstGeom prst="ellipse">
            <a:avLst/>
          </a:prstGeom>
          <a:solidFill>
            <a:srgbClr val="1E1B4B"/>
          </a:solidFill>
          <a:ln w="22860">
            <a:solidFill>
              <a:srgbClr val="7C6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45552" y="43708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754112" y="52578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Corps-à-corps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778240" y="4736592"/>
            <a:ext cx="822960" cy="0"/>
          </a:xfrm>
          <a:prstGeom prst="line">
            <a:avLst/>
          </a:prstGeom>
          <a:noFill/>
          <a:ln w="2286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45" name="Text 43"/>
          <p:cNvSpPr/>
          <p:nvPr/>
        </p:nvSpPr>
        <p:spPr>
          <a:xfrm>
            <a:off x="8759952" y="4498848"/>
            <a:ext cx="868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tocado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646920" y="4279392"/>
            <a:ext cx="914400" cy="914400"/>
          </a:xfrm>
          <a:prstGeom prst="ellipse">
            <a:avLst/>
          </a:prstGeom>
          <a:solidFill>
            <a:srgbClr val="3D2D08"/>
          </a:solidFill>
          <a:ln w="3175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46920" y="43708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★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9555480" y="52578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C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7C6FFF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64592"/>
            <a:ext cx="2560320" cy="292608"/>
          </a:xfrm>
          <a:prstGeom prst="roundRect">
            <a:avLst>
              <a:gd name="adj" fmla="val 37500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Definición Formal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= (Q, Σ, Γ, δ, q₀, Z₀, F)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11155680" cy="548640"/>
          </a:xfrm>
          <a:prstGeom prst="roundRect">
            <a:avLst>
              <a:gd name="adj" fmla="val 11667"/>
            </a:avLst>
          </a:prstGeom>
          <a:solidFill>
            <a:srgbClr val="1A1F35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17320" y="137160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q_a, q_d, q_v 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1389888"/>
            <a:ext cx="5669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Estados: ataque, defensa, victoria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1901952"/>
            <a:ext cx="11155680" cy="548640"/>
          </a:xfrm>
          <a:prstGeom prst="roundRect">
            <a:avLst>
              <a:gd name="adj" fmla="val 11667"/>
            </a:avLst>
          </a:prstGeom>
          <a:solidFill>
            <a:srgbClr val="141828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993392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Σ_A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19933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avance, tocado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0" y="2011680"/>
            <a:ext cx="5669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del Atacante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523744"/>
            <a:ext cx="11155680" cy="548640"/>
          </a:xfrm>
          <a:prstGeom prst="roundRect">
            <a:avLst>
              <a:gd name="adj" fmla="val 11667"/>
            </a:avLst>
          </a:prstGeom>
          <a:solidFill>
            <a:srgbClr val="1A1F35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15184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Σ_O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2615184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retirada, parada_fallida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0" y="2633472"/>
            <a:ext cx="5669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del Defensor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145536"/>
            <a:ext cx="11155680" cy="548640"/>
          </a:xfrm>
          <a:prstGeom prst="roundRect">
            <a:avLst>
              <a:gd name="adj" fmla="val 11667"/>
            </a:avLst>
          </a:prstGeom>
          <a:solidFill>
            <a:srgbClr val="0D302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236976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Γ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3236976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G, L, M, C, CC }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0" y="3255264"/>
            <a:ext cx="5669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⬅  5 posiciones — símbolos de la pila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3767328"/>
            <a:ext cx="11155680" cy="548640"/>
          </a:xfrm>
          <a:prstGeom prst="roundRect">
            <a:avLst>
              <a:gd name="adj" fmla="val 11667"/>
            </a:avLst>
          </a:prstGeom>
          <a:solidFill>
            <a:srgbClr val="1A1F35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85876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q₀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3858768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3877056"/>
            <a:ext cx="5669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inicial (turno del atacante)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4389120"/>
            <a:ext cx="11155680" cy="548640"/>
          </a:xfrm>
          <a:prstGeom prst="roundRect">
            <a:avLst>
              <a:gd name="adj" fmla="val 11667"/>
            </a:avLst>
          </a:prstGeom>
          <a:solidFill>
            <a:srgbClr val="141828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4805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Z₀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417320" y="448056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0" y="4498848"/>
            <a:ext cx="5669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Símbolo inicial de la pila (En Garde)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5010912"/>
            <a:ext cx="11155680" cy="548640"/>
          </a:xfrm>
          <a:prstGeom prst="roundRect">
            <a:avLst>
              <a:gd name="adj" fmla="val 11667"/>
            </a:avLst>
          </a:prstGeom>
          <a:solidFill>
            <a:srgbClr val="1A1F35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5102352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417320" y="510235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q_v }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0" y="5120640"/>
            <a:ext cx="5669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aceptación — victoria del atacante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580644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594360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Semántica: </a:t>
            </a:r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(avance = apila posición)  |  </a:t>
            </a:r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(retirada = desapila)  |  </a:t>
            </a:r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NO-OP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(parada_fallida = sin cambios)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C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7C6FFF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64592"/>
            <a:ext cx="3200400" cy="292608"/>
          </a:xfrm>
          <a:prstGeom prst="roundRect">
            <a:avLst>
              <a:gd name="adj" fmla="val 37500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Tabla de Transiciones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0972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de Transición δ — 13 Reglas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11155680" cy="329184"/>
          </a:xfrm>
          <a:prstGeom prst="rect">
            <a:avLst/>
          </a:prstGeom>
          <a:solidFill>
            <a:srgbClr val="1E1B4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1704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17043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98448" y="117043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48256" y="1170432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38144" y="117043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096512" y="117043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Estado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37760" y="117043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79008" y="117043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Significado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508760"/>
            <a:ext cx="11155680" cy="320040"/>
          </a:xfrm>
          <a:prstGeom prst="rect">
            <a:avLst/>
          </a:prstGeom>
          <a:solidFill>
            <a:srgbClr val="1A1F3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156362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22376" y="156362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289304" y="156362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039112" y="1563624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429000" y="1563624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087368" y="1563624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28616" y="1563624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769864" y="1563624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garde → largo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1847088"/>
            <a:ext cx="11155680" cy="320040"/>
          </a:xfrm>
          <a:prstGeom prst="rect">
            <a:avLst/>
          </a:prstGeom>
          <a:solidFill>
            <a:srgbClr val="1A1F3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1901952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22376" y="1901952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89304" y="1901952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39112" y="1901952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429000" y="190195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087368" y="1901952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28616" y="1901952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769864" y="190195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→ medio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2185416"/>
            <a:ext cx="11155680" cy="320040"/>
          </a:xfrm>
          <a:prstGeom prst="rect">
            <a:avLst/>
          </a:prstGeom>
          <a:solidFill>
            <a:srgbClr val="1A1F3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4048" y="2240280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22376" y="2240280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289304" y="2240280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039112" y="224028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429000" y="2240280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087368" y="2240280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928616" y="2240280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M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69864" y="2240280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→ corto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5760" y="2523744"/>
            <a:ext cx="11155680" cy="320040"/>
          </a:xfrm>
          <a:prstGeom prst="rect">
            <a:avLst/>
          </a:prstGeom>
          <a:solidFill>
            <a:srgbClr val="1A1F3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2578608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22376" y="2578608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289304" y="2578608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039112" y="2578608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29000" y="2578608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087368" y="2578608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928616" y="2578608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 C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769864" y="2578608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→ corps-à-corps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65760" y="2862072"/>
            <a:ext cx="11155680" cy="320040"/>
          </a:xfrm>
          <a:prstGeom prst="rect">
            <a:avLst/>
          </a:prstGeom>
          <a:solidFill>
            <a:srgbClr val="3D2D0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84048" y="2916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22376" y="2916936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289304" y="2916936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039112" y="2916936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429000" y="2916936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087368" y="291693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928616" y="291693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769864" y="2916936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¡VICTORIA! ★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65760" y="3182112"/>
            <a:ext cx="11155680" cy="0"/>
          </a:xfrm>
          <a:prstGeom prst="line">
            <a:avLst/>
          </a:prstGeom>
          <a:noFill/>
          <a:ln w="6350">
            <a:solidFill>
              <a:srgbClr val="7C6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65760" y="3200400"/>
            <a:ext cx="11155680" cy="320040"/>
          </a:xfrm>
          <a:prstGeom prst="rect">
            <a:avLst/>
          </a:prstGeom>
          <a:solidFill>
            <a:srgbClr val="141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84048" y="325526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722376" y="325526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289304" y="325526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2039112" y="3255264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429000" y="3255264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087368" y="3255264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928616" y="3255264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ε pop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5769864" y="3255264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Retrocede a en garde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365760" y="3538728"/>
            <a:ext cx="11155680" cy="320040"/>
          </a:xfrm>
          <a:prstGeom prst="rect">
            <a:avLst/>
          </a:prstGeom>
          <a:solidFill>
            <a:srgbClr val="141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84048" y="3593592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22376" y="3593592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1289304" y="3593592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2039112" y="3593592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3429000" y="359359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087368" y="3593592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4928616" y="3593592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ε pop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5769864" y="359359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Retrocede a largo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365760" y="3877056"/>
            <a:ext cx="11155680" cy="320040"/>
          </a:xfrm>
          <a:prstGeom prst="rect">
            <a:avLst/>
          </a:prstGeom>
          <a:solidFill>
            <a:srgbClr val="141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84048" y="3931920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722376" y="3931920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1289304" y="3931920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039112" y="393192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3429000" y="3931920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087368" y="3931920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4928616" y="3931920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ε pop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5769864" y="3931920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Retrocede a medio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365760" y="4215384"/>
            <a:ext cx="11155680" cy="320040"/>
          </a:xfrm>
          <a:prstGeom prst="rect">
            <a:avLst/>
          </a:prstGeom>
          <a:solidFill>
            <a:srgbClr val="141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384048" y="4270248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722376" y="4270248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1289304" y="4270248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2039112" y="4270248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429000" y="4270248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4087368" y="4270248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928616" y="4270248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ε pop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769864" y="4270248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Retrocede a corto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365760" y="4535424"/>
            <a:ext cx="11155680" cy="0"/>
          </a:xfrm>
          <a:prstGeom prst="line">
            <a:avLst/>
          </a:prstGeom>
          <a:noFill/>
          <a:ln w="6350">
            <a:solidFill>
              <a:srgbClr val="7C6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65760" y="4553712"/>
            <a:ext cx="11155680" cy="320040"/>
          </a:xfrm>
          <a:prstGeom prst="rect">
            <a:avLst/>
          </a:prstGeom>
          <a:solidFill>
            <a:srgbClr val="141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84048" y="460857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722376" y="4608576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1289304" y="4608576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2039112" y="4608576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429000" y="4608576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4087368" y="460857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4928616" y="460857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5769864" y="4608576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No-op en largo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365760" y="4892040"/>
            <a:ext cx="11155680" cy="320040"/>
          </a:xfrm>
          <a:prstGeom prst="rect">
            <a:avLst/>
          </a:prstGeom>
          <a:solidFill>
            <a:srgbClr val="141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84048" y="494690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22376" y="494690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1289304" y="494690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2039112" y="4946904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3429000" y="4946904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087368" y="4946904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4928616" y="4946904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5769864" y="4946904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No-op en medio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365760" y="5230368"/>
            <a:ext cx="11155680" cy="320040"/>
          </a:xfrm>
          <a:prstGeom prst="rect">
            <a:avLst/>
          </a:prstGeom>
          <a:solidFill>
            <a:srgbClr val="141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84048" y="5285232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722376" y="5285232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1289304" y="5285232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2039112" y="5285232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3429000" y="528523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4087368" y="5285232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4928616" y="5285232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5769864" y="52852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No-op en corto</a:t>
            </a:r>
            <a:endParaRPr lang="en-US" sz="900" dirty="0"/>
          </a:p>
        </p:txBody>
      </p:sp>
      <p:sp>
        <p:nvSpPr>
          <p:cNvPr id="126" name="Shape 124"/>
          <p:cNvSpPr/>
          <p:nvPr/>
        </p:nvSpPr>
        <p:spPr>
          <a:xfrm>
            <a:off x="365760" y="5568696"/>
            <a:ext cx="11155680" cy="320040"/>
          </a:xfrm>
          <a:prstGeom prst="rect">
            <a:avLst/>
          </a:prstGeom>
          <a:solidFill>
            <a:srgbClr val="141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384048" y="5623560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722376" y="5623560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000" dirty="0"/>
          </a:p>
        </p:txBody>
      </p:sp>
      <p:sp>
        <p:nvSpPr>
          <p:cNvPr id="129" name="Text 127"/>
          <p:cNvSpPr/>
          <p:nvPr/>
        </p:nvSpPr>
        <p:spPr>
          <a:xfrm>
            <a:off x="1289304" y="5623560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130" name="Text 128"/>
          <p:cNvSpPr/>
          <p:nvPr/>
        </p:nvSpPr>
        <p:spPr>
          <a:xfrm>
            <a:off x="2039112" y="5623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3429000" y="5623560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4087368" y="5623560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4928616" y="5623560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5769864" y="5623560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No-op en corps-à-corps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C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7C6FFF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64592"/>
            <a:ext cx="2743200" cy="292608"/>
          </a:xfrm>
          <a:prstGeom prst="roundRect">
            <a:avLst>
              <a:gd name="adj" fmla="val 37500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Diagrama de Estados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 del Autómata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22960" y="2286000"/>
            <a:ext cx="2011680" cy="2011680"/>
          </a:xfrm>
          <a:prstGeom prst="ellipse">
            <a:avLst/>
          </a:prstGeom>
          <a:solidFill>
            <a:srgbClr val="1E1B4B"/>
          </a:solidFill>
          <a:ln w="31750">
            <a:solidFill>
              <a:srgbClr val="7C6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8346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12080" y="2286000"/>
            <a:ext cx="2011680" cy="2011680"/>
          </a:xfrm>
          <a:prstGeom prst="ellipse">
            <a:avLst/>
          </a:prstGeom>
          <a:solidFill>
            <a:srgbClr val="0C1E2A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0" y="28346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212080" y="33832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326880" y="2286000"/>
            <a:ext cx="2011680" cy="2011680"/>
          </a:xfrm>
          <a:prstGeom prst="ellipse">
            <a:avLst/>
          </a:prstGeom>
          <a:solidFill>
            <a:srgbClr val="3D2D08"/>
          </a:solidFill>
          <a:ln w="31750">
            <a:solidFill>
              <a:srgbClr val="F59E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28048" y="2487168"/>
            <a:ext cx="1609344" cy="160934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0" y="28346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326880" y="33832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 ★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" y="3291840"/>
            <a:ext cx="758952" cy="0"/>
          </a:xfrm>
          <a:prstGeom prst="line">
            <a:avLst/>
          </a:prstGeom>
          <a:noFill/>
          <a:ln w="22860">
            <a:solidFill>
              <a:srgbClr val="7C6FF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852928" y="2743200"/>
            <a:ext cx="2340864" cy="0"/>
          </a:xfrm>
          <a:prstGeom prst="line">
            <a:avLst/>
          </a:prstGeom>
          <a:noFill/>
          <a:ln w="22860">
            <a:solidFill>
              <a:srgbClr val="7C6FFF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2852928" y="235915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avance, X / push(X')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52928" y="267004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X∈{G,L,M,C}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193792" y="3931920"/>
            <a:ext cx="-2340864" cy="0"/>
          </a:xfrm>
          <a:prstGeom prst="line">
            <a:avLst/>
          </a:prstGeom>
          <a:noFill/>
          <a:ln w="22860">
            <a:solidFill>
              <a:srgbClr val="EF4444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2852928" y="39502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retirada, X / ε (pop)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852928" y="422452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X∈{L,M,C,CC}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193792" y="2514600"/>
            <a:ext cx="-2340864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ysDash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2743200" y="2029968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parada_fallida, X / X (no-op)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852928" y="3291840"/>
            <a:ext cx="6455664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2926080" y="16276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tocado, CC / CC  →  ¡VICTORIA! ★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5559552"/>
            <a:ext cx="11155680" cy="1024128"/>
          </a:xfrm>
          <a:prstGeom prst="roundRect">
            <a:avLst>
              <a:gd name="adj" fmla="val 10714"/>
            </a:avLst>
          </a:prstGeom>
          <a:solidFill>
            <a:srgbClr val="141828"/>
          </a:solidFill>
          <a:ln w="12700">
            <a:solidFill>
              <a:srgbClr val="2520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565099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Leyenda: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" y="6053328"/>
            <a:ext cx="365760" cy="0"/>
          </a:xfrm>
          <a:prstGeom prst="line">
            <a:avLst/>
          </a:prstGeom>
          <a:noFill/>
          <a:ln w="25400">
            <a:solidFill>
              <a:srgbClr val="7C6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59618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q_d  avance (PUSH)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337560" y="6053328"/>
            <a:ext cx="365760" cy="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49040" y="59618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q_a  retirada (POP)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6053328"/>
            <a:ext cx="36576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83680" y="59618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  parada_fallida (NO-OP)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006840" y="6053328"/>
            <a:ext cx="36576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18320" y="59618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q_v  tocado (VICTORIA ★)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6291072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q_v se dibuja con doble círculo por ser estado de aceptación. X = cualquier símbolo en el tope. ε = acción de pop.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C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7C6FFF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64592"/>
            <a:ext cx="3200400" cy="292608"/>
          </a:xfrm>
          <a:prstGeom prst="roundRect">
            <a:avLst>
              <a:gd name="adj" fmla="val 37500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Justificación del Diseño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PDA y no AFD?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4182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417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 PUSH — avance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828800"/>
            <a:ext cx="32461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avance de A apila 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 posición en el tope.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avance, tope 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push 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Pila: L 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128016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41828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24528" y="1417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POP — retirada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51960" y="1828800"/>
            <a:ext cx="32461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retirada de O desapila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tope, volviendo al estado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 exacto.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retirada, tope 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Pila: L 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63840" y="128016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41828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73568" y="1417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NO-OP — parada_fallida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001000" y="1828800"/>
            <a:ext cx="32461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parada fallida no modifica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pila. El turno pasa sin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la posición.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parada_fallida, tope 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Pila: sin cambios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663440"/>
            <a:ext cx="11155680" cy="1920240"/>
          </a:xfrm>
          <a:prstGeom prst="roundRect">
            <a:avLst>
              <a:gd name="adj" fmla="val 5714"/>
            </a:avLst>
          </a:prstGeom>
          <a:solidFill>
            <a:srgbClr val="141828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75488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la pila justifica el PDA?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5166360"/>
            <a:ext cx="1088136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AFD (Autómata Finito Determinista) tiene memoria finita: no puede recordar cuántos avances se realizaron.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O ejecuta varias retiradas, el AFD no sabe a qué posición exacta regresar.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resuelve esto: cada retirada (pop) vuelve exactamente al estado anterior, sin importar la profundidad.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hace la pila necesaria → justifica formalmente el uso de un PDA sobre un AFD.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C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64592"/>
            <a:ext cx="2286000" cy="292608"/>
          </a:xfrm>
          <a:prstGeom prst="roundRect">
            <a:avLst>
              <a:gd name="adj" fmla="val 37500"/>
            </a:avLst>
          </a:prstGeom>
          <a:solidFill>
            <a:srgbClr val="0D302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Traza Aceptada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3035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Cadena Aceptada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87552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· parada_fallida · avance · retirada · avance · avance · parada_fallida · tocado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389888"/>
            <a:ext cx="11155680" cy="320040"/>
          </a:xfrm>
          <a:prstGeom prst="rect">
            <a:avLst/>
          </a:prstGeom>
          <a:solidFill>
            <a:srgbClr val="0F3D3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417320"/>
            <a:ext cx="59436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60704" y="1417320"/>
            <a:ext cx="8686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002536" y="1417320"/>
            <a:ext cx="16002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75888" y="1417320"/>
            <a:ext cx="7132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62272" y="1417320"/>
            <a:ext cx="141732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52744" y="1417320"/>
            <a:ext cx="50292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 resultante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5760" y="1737360"/>
            <a:ext cx="11155680" cy="365760"/>
          </a:xfrm>
          <a:prstGeom prst="rect">
            <a:avLst/>
          </a:prstGeom>
          <a:solidFill>
            <a:srgbClr val="1A1F3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181051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60704" y="1810512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02536" y="1810512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75888" y="1810512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62272" y="1810512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52744" y="1810512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2112264"/>
            <a:ext cx="11155680" cy="365760"/>
          </a:xfrm>
          <a:prstGeom prst="rect">
            <a:avLst/>
          </a:prstGeom>
          <a:solidFill>
            <a:srgbClr val="141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2185416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60704" y="218541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002536" y="2185416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675888" y="2185416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62272" y="2185416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 push 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952744" y="2185416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2487168"/>
            <a:ext cx="11155680" cy="365760"/>
          </a:xfrm>
          <a:prstGeom prst="rect">
            <a:avLst/>
          </a:prstGeom>
          <a:solidFill>
            <a:srgbClr val="1A1F3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2560320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60704" y="256032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002536" y="2560320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75888" y="2560320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462272" y="2560320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#10 no-op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52744" y="2560320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G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2862072"/>
            <a:ext cx="11155680" cy="365760"/>
          </a:xfrm>
          <a:prstGeom prst="rect">
            <a:avLst/>
          </a:prstGeom>
          <a:solidFill>
            <a:srgbClr val="141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" y="2935224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60704" y="293522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002536" y="2935224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75888" y="2935224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462272" y="2935224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 push M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952744" y="2935224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L G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65760" y="3236976"/>
            <a:ext cx="11155680" cy="365760"/>
          </a:xfrm>
          <a:prstGeom prst="rect">
            <a:avLst/>
          </a:prstGeom>
          <a:solidFill>
            <a:srgbClr val="1A1F3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3192" y="3310128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60704" y="331012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002536" y="3310128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675888" y="33101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62272" y="331012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#7 pop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952744" y="3310128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G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65760" y="3611880"/>
            <a:ext cx="11155680" cy="365760"/>
          </a:xfrm>
          <a:prstGeom prst="rect">
            <a:avLst/>
          </a:prstGeom>
          <a:solidFill>
            <a:srgbClr val="141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3192" y="368503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1060704" y="3685032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2002536" y="3685032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75888" y="3685032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462272" y="3685032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 push M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952744" y="3685032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L G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65760" y="3986784"/>
            <a:ext cx="11155680" cy="365760"/>
          </a:xfrm>
          <a:prstGeom prst="rect">
            <a:avLst/>
          </a:prstGeom>
          <a:solidFill>
            <a:srgbClr val="1A1F3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93192" y="4059936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1060704" y="405993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2002536" y="4059936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675888" y="4059936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462272" y="4059936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#11 no-op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952744" y="4059936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L G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65760" y="4361688"/>
            <a:ext cx="11155680" cy="365760"/>
          </a:xfrm>
          <a:prstGeom prst="rect">
            <a:avLst/>
          </a:prstGeom>
          <a:solidFill>
            <a:srgbClr val="141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93192" y="4434840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1060704" y="443484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002536" y="4434840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3675888" y="4434840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462272" y="4434840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 push C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5952744" y="4434840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M L G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65760" y="4736592"/>
            <a:ext cx="11155680" cy="365760"/>
          </a:xfrm>
          <a:prstGeom prst="rect">
            <a:avLst/>
          </a:prstGeom>
          <a:solidFill>
            <a:srgbClr val="1A1F3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93192" y="4809744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060704" y="480974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2002536" y="4809744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3675888" y="4809744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462272" y="4809744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#4 push CC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952744" y="4809744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 C M L G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365760" y="5111496"/>
            <a:ext cx="11155680" cy="365760"/>
          </a:xfrm>
          <a:prstGeom prst="rect">
            <a:avLst/>
          </a:prstGeom>
          <a:solidFill>
            <a:srgbClr val="141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3192" y="5184648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1060704" y="518464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002536" y="5184648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675888" y="518464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4462272" y="518464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#13 no-op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952744" y="5184648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 C M L G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365760" y="5486400"/>
            <a:ext cx="11155680" cy="365760"/>
          </a:xfrm>
          <a:prstGeom prst="rect">
            <a:avLst/>
          </a:prstGeom>
          <a:solidFill>
            <a:srgbClr val="3D2D0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93192" y="55595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1060704" y="5559552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2002536" y="5559552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75888" y="5559552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4462272" y="5559552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#5 → q_v ★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952744" y="5559552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ACEPTA ✅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57200" y="626364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paso 4, la retirada deshizo el avance M→L, obligando a A a re-avanzar. La pila conservó todo el historial.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C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64592"/>
            <a:ext cx="2468880" cy="292608"/>
          </a:xfrm>
          <a:prstGeom prst="roundRect">
            <a:avLst>
              <a:gd name="adj" fmla="val 37500"/>
            </a:avLst>
          </a:prstGeom>
          <a:solidFill>
            <a:srgbClr val="3D121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Traza Rechazada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3035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Cadena Rechazada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· retirada · tocado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1389888"/>
            <a:ext cx="9418320" cy="320040"/>
          </a:xfrm>
          <a:prstGeom prst="rect">
            <a:avLst/>
          </a:prstGeom>
          <a:solidFill>
            <a:srgbClr val="4D151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417320"/>
            <a:ext cx="59436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78992" y="1417320"/>
            <a:ext cx="8686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039112" y="1417320"/>
            <a:ext cx="13716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02152" y="1417320"/>
            <a:ext cx="7132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306824" y="1417320"/>
            <a:ext cx="20116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9944" y="1417320"/>
            <a:ext cx="32004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5760" y="1755648"/>
            <a:ext cx="9418320" cy="457200"/>
          </a:xfrm>
          <a:prstGeom prst="rect">
            <a:avLst/>
          </a:prstGeom>
          <a:solidFill>
            <a:srgbClr val="1A1F3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1865376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78992" y="1865376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39112" y="18653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02152" y="186537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06824" y="186537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9944" y="186537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2258568"/>
            <a:ext cx="9418320" cy="457200"/>
          </a:xfrm>
          <a:prstGeom prst="rect">
            <a:avLst/>
          </a:prstGeom>
          <a:solidFill>
            <a:srgbClr val="141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2368296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78992" y="2368296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039112" y="23682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502152" y="236829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306824" y="236829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 push 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9944" y="23682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2761488"/>
            <a:ext cx="9418320" cy="457200"/>
          </a:xfrm>
          <a:prstGeom prst="rect">
            <a:avLst/>
          </a:prstGeom>
          <a:solidFill>
            <a:srgbClr val="1A1F3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2871216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78992" y="2871216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039112" y="28712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502152" y="287121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306824" y="287121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#6 pop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9944" y="28712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3264408"/>
            <a:ext cx="9418320" cy="457200"/>
          </a:xfrm>
          <a:prstGeom prst="rect">
            <a:avLst/>
          </a:prstGeom>
          <a:solidFill>
            <a:srgbClr val="3D121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" y="3374136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78992" y="3374136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039112" y="3374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502152" y="337413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306824" y="337413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sin transición ✗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09944" y="337413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RECHAZA ❌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65760" y="3931920"/>
            <a:ext cx="11155680" cy="1417320"/>
          </a:xfrm>
          <a:prstGeom prst="roundRect">
            <a:avLst>
              <a:gd name="adj" fmla="val 7742"/>
            </a:avLst>
          </a:prstGeom>
          <a:solidFill>
            <a:srgbClr val="141828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023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Razón del Rechazo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548640" y="4407408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δ(q_a, tocado, G) no está definida en la tabla de transiciones.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"tocado" solo es válido cuando el tope de la pila es CC (corps-à-corps).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logró retirarse hasta G. No existe transición → la cadena se rechaza.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5486400"/>
            <a:ext cx="11155680" cy="1078992"/>
          </a:xfrm>
          <a:prstGeom prst="roundRect">
            <a:avLst>
              <a:gd name="adj" fmla="val 10169"/>
            </a:avLst>
          </a:prstGeom>
          <a:solidFill>
            <a:srgbClr val="141828"/>
          </a:solidFill>
          <a:ln w="12700">
            <a:solidFill>
              <a:srgbClr val="1A1F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5577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Semánticamente: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48640" y="589788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perdió toda ventaja de posición. O se retiró hasta la guardia inicial (G) antes de que A pudiese rematar.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Intentar un tocado desde distancia larga es inválido — la cadena no pertenece al lenguaje del PDA.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C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7C6FFF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64592"/>
            <a:ext cx="2011680" cy="292608"/>
          </a:xfrm>
          <a:prstGeom prst="roundRect">
            <a:avLst>
              <a:gd name="adj" fmla="val 37500"/>
            </a:avLst>
          </a:prstGeom>
          <a:solidFill>
            <a:srgbClr val="3D2D08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Evaluación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Evaluación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grupal · 10 minutos exactos · Oficina del Profesor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229600" cy="512064"/>
          </a:xfrm>
          <a:prstGeom prst="roundRect">
            <a:avLst>
              <a:gd name="adj" fmla="val 12500"/>
            </a:avLst>
          </a:prstGeom>
          <a:solidFill>
            <a:srgbClr val="1A1F35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426464"/>
            <a:ext cx="320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426464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dominio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6459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Esgrima, 5 posiciones, roles, condición de victoria (~2 min)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715000" y="1444752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5000" y="1463040"/>
            <a:ext cx="1143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1929384"/>
            <a:ext cx="8229600" cy="512064"/>
          </a:xfrm>
          <a:prstGeom prst="roundRect">
            <a:avLst>
              <a:gd name="adj" fmla="val 12500"/>
            </a:avLst>
          </a:prstGeom>
          <a:solidFill>
            <a:srgbClr val="141828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1984248"/>
            <a:ext cx="320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1984248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 del dominio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2203704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ajusta al PDA: 2 roles, secuencialidad, reversibilidad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715000" y="2002536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15000" y="2020824"/>
            <a:ext cx="1143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2487168"/>
            <a:ext cx="8229600" cy="512064"/>
          </a:xfrm>
          <a:prstGeom prst="roundRect">
            <a:avLst>
              <a:gd name="adj" fmla="val 12500"/>
            </a:avLst>
          </a:prstGeom>
          <a:solidFill>
            <a:srgbClr val="1A1F35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542032"/>
            <a:ext cx="320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2542032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formal del PDA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" y="276148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Q, Σ, Γ, δ, q₀, Z₀, F + diagrama + tabla completa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715000" y="2560320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15000" y="2578608"/>
            <a:ext cx="1143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3044952"/>
            <a:ext cx="8229600" cy="512064"/>
          </a:xfrm>
          <a:prstGeom prst="roundRect">
            <a:avLst>
              <a:gd name="adj" fmla="val 12500"/>
            </a:avLst>
          </a:prstGeom>
          <a:solidFill>
            <a:srgbClr val="141828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099816"/>
            <a:ext cx="320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" y="309981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 de diseño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331927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Semántica de la pila, push/pop, por qué PDA y no AFD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715000" y="311810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15000" y="3136392"/>
            <a:ext cx="1143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pts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3602736"/>
            <a:ext cx="8229600" cy="512064"/>
          </a:xfrm>
          <a:prstGeom prst="roundRect">
            <a:avLst>
              <a:gd name="adj" fmla="val 12500"/>
            </a:avLst>
          </a:prstGeom>
          <a:solidFill>
            <a:srgbClr val="1A1F35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3657600"/>
            <a:ext cx="320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22960" y="365760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2960" y="387705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a paso con estado y pila en cada transición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715000" y="3675888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15000" y="3694176"/>
            <a:ext cx="1143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pts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4160520"/>
            <a:ext cx="8229600" cy="512064"/>
          </a:xfrm>
          <a:prstGeom prst="roundRect">
            <a:avLst>
              <a:gd name="adj" fmla="val 12500"/>
            </a:avLst>
          </a:prstGeom>
          <a:solidFill>
            <a:srgbClr val="141828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4215384"/>
            <a:ext cx="320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2960" y="4215384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22960" y="44348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razón exacta del rechazo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715000" y="4233672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15000" y="4251960"/>
            <a:ext cx="1143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pts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65760" y="4718304"/>
            <a:ext cx="8229600" cy="512064"/>
          </a:xfrm>
          <a:prstGeom prst="roundRect">
            <a:avLst>
              <a:gd name="adj" fmla="val 12500"/>
            </a:avLst>
          </a:prstGeom>
          <a:solidFill>
            <a:srgbClr val="1A1F35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2920" y="4773168"/>
            <a:ext cx="320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22960" y="4773168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y preguntas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2960" y="4992624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responden (pueden pedir trazar cadenas nuevas)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715000" y="4791456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 w="12700">
            <a:solidFill>
              <a:srgbClr val="7C6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15000" y="4809744"/>
            <a:ext cx="1143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pts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65760" y="5321808"/>
            <a:ext cx="8229600" cy="475488"/>
          </a:xfrm>
          <a:prstGeom prst="roundRect">
            <a:avLst>
              <a:gd name="adj" fmla="val 15385"/>
            </a:avLst>
          </a:prstGeom>
          <a:solidFill>
            <a:srgbClr val="252060"/>
          </a:solidFill>
          <a:ln w="19050">
            <a:solidFill>
              <a:srgbClr val="7C6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8640" y="53949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5715000" y="5394960"/>
            <a:ext cx="1143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pts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9006840" y="1280160"/>
            <a:ext cx="2834640" cy="4572000"/>
          </a:xfrm>
          <a:prstGeom prst="roundRect">
            <a:avLst>
              <a:gd name="adj" fmla="val 3871"/>
            </a:avLst>
          </a:prstGeom>
          <a:solidFill>
            <a:srgbClr val="141828"/>
          </a:solidFill>
          <a:ln w="12700">
            <a:solidFill>
              <a:srgbClr val="4D3A0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144000" y="138988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Tips clave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9098280" y="1828800"/>
            <a:ext cx="26334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El profe puede pedirte trazar una cadena nueva en el momento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098280" y="2542032"/>
            <a:ext cx="26334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Saber explicar PDA vs AFD es crucial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9098280" y="3255264"/>
            <a:ext cx="26334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10 min exactos — sin atrasos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098280" y="3968496"/>
            <a:ext cx="26334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Todos deben dominar todo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9098280" y="4681728"/>
            <a:ext cx="26334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Foco en modelado formal, no memorizar guion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65760" y="58978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141828"/>
          </a:solidFill>
          <a:ln w="12700">
            <a:solidFill>
              <a:srgbClr val="0D302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2920" y="598017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Tiempo sugerido: 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2560320" y="598017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~2min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4434840" y="598017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PDA ~4-5min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766560" y="5980176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Trazas ~3min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2560320" y="626364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1–6 →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2026-07-01T19:52:20Z</dcterms:created>
  <dcterms:modified xsi:type="dcterms:W3CDTF">2026-07-01T19:52:20Z</dcterms:modified>
</cp:coreProperties>
</file>