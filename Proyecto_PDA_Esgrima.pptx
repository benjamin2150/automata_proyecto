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25603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Y LENGUAJES FORMALES  //  TRABAJO GRUPAL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68580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320040" y="2286000"/>
            <a:ext cx="11521440" cy="0"/>
          </a:xfrm>
          <a:prstGeom prst="line">
            <a:avLst/>
          </a:prstGeom>
          <a:noFill/>
          <a:ln w="19050">
            <a:solidFill>
              <a:srgbClr val="53348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8716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24871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Esgrima (Florete) — combate entre dos tiradores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71216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108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20240" y="31089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PDA = (Q, Σ, Γ, δ, q₀, Z₀, F)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493008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730752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373075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{ q_a,  q_d,  q_v 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14800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352544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 Γ: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435254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G, L, M, C, CC } — 5 posiciones de combate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736592"/>
            <a:ext cx="1143000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97433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δ: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20240" y="497433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transiciones formales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PDA?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2 tiradores: Atacante (A) y Defensor (O)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el tocado → exactamente 1 ganador posible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lineal de 5 posiciones: G → L → M → C → CC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(retirada) o fallar la parada (parada_fallida)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reversibilidad parcial de posiciones es natural: retirada = retroceder exactamente 1 nivel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[ 3 ]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PDA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= (Q, Σ, Γ, δ, q₀, Z₀, F)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{ q_a, q_d, q_v }    →    ataque (turno A) / defensa (turno O) / victoria (fin)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Σ_A = { avance, tocado }    →    acciones del Atacante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Σ_O = { retirada, parada_fallida }    →    acciones del Defensor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{ G, L, M, C, CC }    →    5 símbolos de la pila = 5 posiciones de combate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= q_a   |   Z₀ = G   |   F = { q_v }    →    inicio en guardia, acepta por estado final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[ 4 ]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de la Pila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tiene un efecto concreto y bien definido sobre la pila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 (avance):  apila la nueva posición encima  →  pila crece con cada avance de 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 (retirada):  desapila el tope  →  vuelve exactamente al estado previo, sin importar la profundidad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NO-OP  (parada_fallida):  no modifica la pila  →  el turno cambia pero la posición queda igual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PDA y no AFD?  →  el AFD no puede recordar cuántos avances hubo ni a qué posición regresar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hace posible el retroceso exacto: es el componente que justifica formalmente el PDA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[ 5 ]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 de aristas:  símbolo_leído, tope_actual / pila_resultante  |  ε = solo pop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 (turno del Atacante)  →  estado inicial, recibe: avance o tocado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 (turno del Defensor)  →  recibe: retirada o parada_fallida, siempre vuelve a q_a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 (victoria)  →  estado de aceptación, doble círculo, solo alcanzable con tocado desde CC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Flecha azul  q_a → q_d:  avance + PUSH  |  Flecha roja  q_d → q_a:  retirada + POP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Flecha dorada  q_a → q_v:  tocado, CC / CC  (el único camino a la victoria)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[ 6 ]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 δ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totales — 5 del Atacante, 4 de retirada, 4 de parada_fallida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#1–4  (avance + PUSH):  avance, G/L·G  |  avance, L/M·L  |  avance, M/C·M  |  avance, C/CC·C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#5  (VICTORIA):  tocado, CC / CC  →  q_v  ★  — único punto de aceptación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#6–9  (retirada + POP):  retirada, X / ε  con X ∈ {L, M, C, CC}  →  vuelve a q_a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#10–13  (parada_fallida + NO-OP):  parada_fallida, X / X  con X ∈ {L, M, C, CC}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transición definida = rechazo inmediato  →  ej: tocado con tope G no existe en δ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[ 7 ]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 ✓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· parada_fallida · avance · retirada · avance · avance · parada_fallida · tocado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1: avance, G → PUSH L  |  pila: L G  |  pasa a q_d  (A avanzó a largo)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2: parada_fallida, L → NO-OP  |  pila: L G  |  vuelve a q_a  (O falló la parada)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3–4: avance M (PUSH) → retirada M (POP)  |  O logró retroceder a largo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5–9: A re-avanza hasta CC  |  pila crece: M L G → C M L G → CC C M L G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10: tocado, CC → q_v  ★  |  cadena ACEPTADA  |  la pila conservó todo el historial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[ 8 ]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 ✗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· retirada · tocado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1: avance, G → PUSH L  |  pila: L G  |  pasa a q_d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2: retirada, L → POP  |  pila: G  |  vuelve a q_a  (O retrocedió hasta En Garde)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3: tocado con tope G  →  δ(q_a, tocado, G) NO ESTÁ DEFINIDA  →  RECHAZA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Razón formal: "tocado" solo es válido cuando el tope es CC (corps-à-corps)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perdió toda ventaja de posición antes de poder rematar  →  cadena no pertenece al lenguaje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33483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0" y="164592"/>
            <a:ext cx="1024128" cy="475488"/>
          </a:xfrm>
          <a:prstGeom prst="roundRect">
            <a:avLst>
              <a:gd name="adj" fmla="val 15385"/>
            </a:avLst>
          </a:prstGeom>
          <a:solidFill>
            <a:srgbClr val="0F3460"/>
          </a:solidFill>
          <a:ln w="12700">
            <a:solidFill>
              <a:srgbClr val="53348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0" y="164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[ 9 ]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" y="91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AUTÓMATAS  //  TRABAJO GRUPAL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28600" y="347472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Evaluación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28600" y="91440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grupal · 10 minutos · Todos los integrantes deben poder responder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28600" y="1325880"/>
            <a:ext cx="11841480" cy="0"/>
          </a:xfrm>
          <a:prstGeom prst="line">
            <a:avLst/>
          </a:prstGeom>
          <a:noFill/>
          <a:ln w="15240">
            <a:solidFill>
              <a:srgbClr val="53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" y="1499616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1481328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pts  →  Contexto del dominio: roles, posiciones, condición de victoria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391522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" y="251094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249265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pts  →  Definición formal completa: Q, Σ, Γ, δ, q₀, Z₀, F + diagrama + tabla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94360" y="3402848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" y="3522269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503981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pts  →  Justificación de diseño: semántica de la pila, PDA vs AFD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94360" y="4414175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4533595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515307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+ 12 pts  →  Traza aceptada y traza rechazada explicadas paso a paso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594360" y="5425501"/>
            <a:ext cx="11384280" cy="0"/>
          </a:xfrm>
          <a:prstGeom prst="line">
            <a:avLst/>
          </a:prstGeom>
          <a:noFill/>
          <a:ln w="5080">
            <a:solidFill>
              <a:srgbClr val="0F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5544922"/>
            <a:ext cx="32004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5526634"/>
            <a:ext cx="11384280" cy="8596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0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+ 6 pts  →  Justificación del dominio + dominio del tema ante preguntas del profe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6675120"/>
            <a:ext cx="10972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2026-07-03T23:15:28Z</dcterms:created>
  <dcterms:modified xsi:type="dcterms:W3CDTF">2026-07-03T23:15:28Z</dcterms:modified>
</cp:coreProperties>
</file>