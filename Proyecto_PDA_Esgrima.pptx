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HP Pro\Desktop\automata_proyecto\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120640" y="0"/>
            <a:ext cx="706831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0" y="13716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0" y="1920240"/>
            <a:ext cx="6217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Autómata Apilador (PDA)</a:t>
            </a:r>
            <a:endParaRPr lang="en-US" sz="4400" dirty="0"/>
          </a:p>
        </p:txBody>
      </p:sp>
      <p:sp>
        <p:nvSpPr>
          <p:cNvPr id="6" name="Shape 3"/>
          <p:cNvSpPr/>
          <p:nvPr/>
        </p:nvSpPr>
        <p:spPr>
          <a:xfrm>
            <a:off x="5486400" y="3108960"/>
            <a:ext cx="6217920" cy="0"/>
          </a:xfrm>
          <a:prstGeom prst="line">
            <a:avLst/>
          </a:prstGeom>
          <a:noFill/>
          <a:ln w="31750">
            <a:solidFill>
              <a:srgbClr val="C46D5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0" y="32918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4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Secuencias de Victoria en Esgrima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0" y="43891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486400" y="48463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486400" y="530352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303520" y="4206240"/>
            <a:ext cx="6583680" cy="2286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0" y="43891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7955280" y="43891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Maldonado, Ricardo Gil, Amalia Toledo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486400" y="48463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955280" y="48463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(Florete)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86400" y="5303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Modelo: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955280" y="530352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(13 transiciones)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486400" y="6217920"/>
            <a:ext cx="6217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Alonso Inostrosa Psijas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del Dominio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Esgrima — ¿por qué es el dominio ideal para este autómata?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Combate de florete entre dos tiradores: el Atacante y el Defensor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el Atacante puede ejecutar un tocado — esto garantiza que solo uno puede ganar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distancias forman una escalera de cinco posiciones que se pueden recorrer hacia adelante y hacia atrás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solo puede retroceder o fallar la parada — nunca puede ganar por sus propias acciones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 hace al dominio ideal: hay dos roles, una escalera de estados, y un solo ganador posible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Formal del Autómata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siete componentes que definen completamente el PDA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— tres estados: turno del atacante, turno del defensor, y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— cuatro acciones: avanzar y hacer tocado para el atacante; retroceder y fallar la parada para el defensor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 — cinco símbolos de la pila: las cinco posiciones del combate (En Garde, Largo, Medio, Corto, Corps-à-corps)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q₀ y Z₀ — el autómata siempre empieza con el turno del atacante parado en la posición de guardia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— el único estado de aceptación es la victoria, que solo el atacante puede alcanzar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— Por qué necesitamos un PDA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alcanza un autómata finito (AFD)?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avance apila la nueva posición — la pila crece y recuerda el historial completo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retirada desapila el tope — el autómata vuelve exactamente a donde estaba antes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parada fallida no cambia la pila — solo pasa el turno sin mover la posición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AFD no tiene memoria: no puede saber a qué posición exacta regresar luego de varias retiradas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resuelve esto — por eso necesitamos un PDA y no un autómata finito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Estados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estados, cuatro tipos de flechas, un solo camino a la victoria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5669280" cy="4206240"/>
          </a:xfrm>
          <a:prstGeom prst="rect">
            <a:avLst/>
          </a:prstGeom>
          <a:solidFill>
            <a:srgbClr val="F0F0F0"/>
          </a:solidFill>
          <a:ln/>
        </p:spPr>
      </p:sp>
      <p:pic>
        <p:nvPicPr>
          <p:cNvPr id="11" name="Image 0" descr="C:\Users\HP Pro\Desktop\automata_proyecto\grafo_p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20240"/>
            <a:ext cx="5669280" cy="4206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400800" y="2011680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3" name="Text 10"/>
          <p:cNvSpPr/>
          <p:nvPr/>
        </p:nvSpPr>
        <p:spPr>
          <a:xfrm>
            <a:off x="6629400" y="1920240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q_a — turno del atacante (estado inicial)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629400" y="2491087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400800" y="2612571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6" name="Text 13"/>
          <p:cNvSpPr/>
          <p:nvPr/>
        </p:nvSpPr>
        <p:spPr>
          <a:xfrm>
            <a:off x="6629400" y="2521131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q_d — turno del defensor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629400" y="3091978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400800" y="3213463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9" name="Text 16"/>
          <p:cNvSpPr/>
          <p:nvPr/>
        </p:nvSpPr>
        <p:spPr>
          <a:xfrm>
            <a:off x="6629400" y="3122023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q_v — victoria (doble círculo = acepta)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6629400" y="3692870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814354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2" name="Text 19"/>
          <p:cNvSpPr/>
          <p:nvPr/>
        </p:nvSpPr>
        <p:spPr>
          <a:xfrm>
            <a:off x="6629400" y="3722914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el atacante avanza y apila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629400" y="4293761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00800" y="4415246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5" name="Text 22"/>
          <p:cNvSpPr/>
          <p:nvPr/>
        </p:nvSpPr>
        <p:spPr>
          <a:xfrm>
            <a:off x="6629400" y="4323806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el defensor retrocede y desapila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6629400" y="4894653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6400800" y="5016137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8" name="Text 25"/>
          <p:cNvSpPr/>
          <p:nvPr/>
        </p:nvSpPr>
        <p:spPr>
          <a:xfrm>
            <a:off x="6629400" y="4924697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Punteado: parada fallida, nada cambia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6629400" y="5495544"/>
            <a:ext cx="50292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0" y="5617029"/>
            <a:ext cx="109728" cy="109728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31" name="Text 28"/>
          <p:cNvSpPr/>
          <p:nvPr/>
        </p:nvSpPr>
        <p:spPr>
          <a:xfrm>
            <a:off x="6629400" y="5525589"/>
            <a:ext cx="5029200" cy="5408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Dorado: tocado desde la posición más cercana — única forma de ganar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33" name="Text 30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91440"/>
            <a:ext cx="12188952" cy="36576"/>
          </a:xfrm>
          <a:prstGeom prst="rect">
            <a:avLst/>
          </a:prstGeom>
          <a:solidFill>
            <a:srgbClr val="C46D54"/>
          </a:solidFill>
          <a:ln/>
        </p:spPr>
      </p:sp>
      <p:sp>
        <p:nvSpPr>
          <p:cNvPr id="5" name="Text 3"/>
          <p:cNvSpPr/>
          <p:nvPr/>
        </p:nvSpPr>
        <p:spPr>
          <a:xfrm>
            <a:off x="11247120" y="62179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576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Y AUTÓMATAS  //  TRABAJO GRUPAL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640080"/>
            <a:ext cx="10607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75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 de Transiciones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10607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0B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reglas que describen todos los movimientos posibles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1691640"/>
            <a:ext cx="11274552" cy="0"/>
          </a:xfrm>
          <a:prstGeom prst="line">
            <a:avLst/>
          </a:prstGeom>
          <a:noFill/>
          <a:ln w="19050">
            <a:solidFill>
              <a:srgbClr val="C46D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2103120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011680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cinco reglas para el atacante: cuatro de avance y una de tocado que lleva a la victoria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77240" y="2845613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980944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2889504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tocado solo es válido cuando el atacante está en corps-à-corps, la posición más cercana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77240" y="3723437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3858768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767328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retirada: el defensor retrocede desde cualquier posición, excepto desde la guardia inicial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777240" y="4601261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736592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645152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cuatro reglas de parada fallida: no cambia nada, solo pasa el turno al atacante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77240" y="5479085"/>
            <a:ext cx="105156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5614416"/>
            <a:ext cx="137160" cy="137160"/>
          </a:xfrm>
          <a:prstGeom prst="diamond">
            <a:avLst/>
          </a:prstGeom>
          <a:solidFill>
            <a:srgbClr val="C46D54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522976"/>
            <a:ext cx="10515600" cy="7900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intenta una acción que no tiene regla definida, el autómata rechaza la cadena inmediatamente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475B7A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– Autómata Apilador · Secuencias de Victoria · Esgrima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0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---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inicial: el atacante toma la posicion de guardia en q_a.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parte solo con G (En Garde). Aun nadie ha avanzado.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(L)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Largo y la pila crece: se apila L encima de G.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turno pasa al defensor (q_d). El defensor debe responder.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parada_fallida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la parada: no logra detener al atacante.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no cambia. El turno vuelve al atacante (q_a).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3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(M)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Medio. La pila crece: se apila 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defensor (q_d). La presion aumenta.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4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retirada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retrocede: se desapila M y el atacante vuelve a Largo.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queda como antes. Turno al atacante (q_a).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5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(M)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re-avanza a Medio. La pila crece de nuevo: se apila M.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defensor (q_d).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6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parada_fallida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la parada otra vez. La pila no cambia.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atacante (q_a). El defensor esta cediendo terreno.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7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(C)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Corto. La pila crece: se apila C.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distancia ya es muy peligrosa. Turno al defensor (q_d).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8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parada_fallida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de nuevo. La pila no cambia.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atacante (q_a). Ya no hay casi espacio.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1" name="Text 49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9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(CC)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Corps-a-corps. Se apila CC: la distancia maxima de peligro.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queda acorralado sin espacio. Turno al defensor (q_d).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32735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32735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10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parada_fallida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NO-OP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falla su ultima parada. No hay mas espacio para retroceder.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no cambia. Turno al atacante (q_a). El remate es inevitable.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32735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32735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11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tocado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ACEPTAR -&gt; q_v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ejecuta el tocado. Tope de la pila = CC: la transicion existe.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automata pasa a q_v (victoria). La cadena es ACEPTADA.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054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32735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32735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" y="5897880"/>
            <a:ext cx="11640312" cy="658368"/>
          </a:xfrm>
          <a:prstGeom prst="roundRect">
            <a:avLst>
              <a:gd name="adj" fmla="val 13889"/>
            </a:avLst>
          </a:prstGeom>
          <a:solidFill>
            <a:srgbClr val="082010"/>
          </a:solidFill>
          <a:ln w="31750">
            <a:solidFill>
              <a:srgbClr val="40D06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7472" y="5897880"/>
            <a:ext cx="114574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E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ACEPTADA -- el automata llega al estado de victoria q_v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20452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0A2010"/>
          </a:solidFill>
          <a:ln w="25400">
            <a:solidFill>
              <a:srgbClr val="40D06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40D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ACEPTADA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12 / 12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parada_fallida, avance, retirada, avance, parada_fallida, avance, parada_fallida, avance, parada_fallida,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---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automata termina en el unico estado de aceptacion: q_v.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 pertenece al lenguaje del automata apilador.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054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CC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9720072" y="23591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20072" y="23591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9720072" y="28163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20072" y="28163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9720072" y="32735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720072" y="32735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56032" y="5897880"/>
            <a:ext cx="11640312" cy="658368"/>
          </a:xfrm>
          <a:prstGeom prst="roundRect">
            <a:avLst>
              <a:gd name="adj" fmla="val 13889"/>
            </a:avLst>
          </a:prstGeom>
          <a:solidFill>
            <a:srgbClr val="082010"/>
          </a:solidFill>
          <a:ln w="31750">
            <a:solidFill>
              <a:srgbClr val="40D06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7472" y="5897880"/>
            <a:ext cx="114574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0E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ACEPTADA -- el automata llega al estado de victoria q_v</a:t>
            </a:r>
            <a:endParaRPr lang="en-US" sz="1500" dirty="0"/>
          </a:p>
        </p:txBody>
      </p:sp>
      <p:sp>
        <p:nvSpPr>
          <p:cNvPr id="54" name="Shape 5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55" name="Text 5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0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---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inicial: el atacante toma la posicion de guardia en q_a.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pila parte solo con G (En Garde).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avance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 (L)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avanza a Largo. Se apila L.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al defensor (q_d).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37083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9720072" y="19019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3A4060"/>
          </a:solidFill>
          <a:ln w="12700">
            <a:solidFill>
              <a:srgbClr val="2E35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720072" y="19019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8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retirada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defensor retrocede: se desapila L. El atacante regresa a la guardia.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Tope de la pila = G. Turno al atacante (q_a).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3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tocado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ERROR: sin transicion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atacante intenta el tocado pero el tope es G, no CC.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la transicion d(q_a, tocado, G). El automata RECHAZA.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6032" y="5897880"/>
            <a:ext cx="11640312" cy="658368"/>
          </a:xfrm>
          <a:prstGeom prst="roundRect">
            <a:avLst>
              <a:gd name="adj" fmla="val 13889"/>
            </a:avLst>
          </a:prstGeom>
          <a:solidFill>
            <a:srgbClr val="200808"/>
          </a:solidFill>
          <a:ln w="31750">
            <a:solidFill>
              <a:srgbClr val="E050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472" y="5897880"/>
            <a:ext cx="114574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 -- no existe transicion definida para ese estado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E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66928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566928"/>
            <a:ext cx="12188952" cy="27432"/>
          </a:xfrm>
          <a:prstGeom prst="rect">
            <a:avLst/>
          </a:prstGeom>
          <a:solidFill>
            <a:srgbClr val="501010"/>
          </a:solidFill>
          <a:ln/>
        </p:spPr>
      </p:sp>
      <p:sp>
        <p:nvSpPr>
          <p:cNvPr id="5" name="Shape 3"/>
          <p:cNvSpPr/>
          <p:nvPr/>
        </p:nvSpPr>
        <p:spPr>
          <a:xfrm>
            <a:off x="256032" y="64008"/>
            <a:ext cx="3474720" cy="438912"/>
          </a:xfrm>
          <a:prstGeom prst="roundRect">
            <a:avLst>
              <a:gd name="adj" fmla="val 16667"/>
            </a:avLst>
          </a:prstGeom>
          <a:solidFill>
            <a:srgbClr val="2A0808"/>
          </a:solidFill>
          <a:ln w="25400">
            <a:solidFill>
              <a:srgbClr val="E050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56032" y="64008"/>
            <a:ext cx="34747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 RECHAZADA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515600" y="109728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06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4 / 4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931920" y="82296"/>
            <a:ext cx="6400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A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= avance, retirada, tocado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6032" y="603504"/>
            <a:ext cx="2560320" cy="310896"/>
          </a:xfrm>
          <a:prstGeom prst="roundRect">
            <a:avLst>
              <a:gd name="adj" fmla="val 17647"/>
            </a:avLst>
          </a:prstGeom>
          <a:solidFill>
            <a:srgbClr val="25120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603504"/>
            <a:ext cx="2560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---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603504"/>
            <a:ext cx="2743200" cy="310896"/>
          </a:xfrm>
          <a:prstGeom prst="roundRect">
            <a:avLst>
              <a:gd name="adj" fmla="val 17647"/>
            </a:avLst>
          </a:prstGeom>
          <a:solidFill>
            <a:srgbClr val="08101E"/>
          </a:solidFill>
          <a:ln w="1524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44368" y="603504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6032" y="987552"/>
            <a:ext cx="11640312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" y="1042416"/>
            <a:ext cx="8961120" cy="749808"/>
          </a:xfrm>
          <a:prstGeom prst="roundRect">
            <a:avLst>
              <a:gd name="adj" fmla="val 9756"/>
            </a:avLst>
          </a:prstGeom>
          <a:solidFill>
            <a:srgbClr val="12162A"/>
          </a:solidFill>
          <a:ln w="12700">
            <a:solidFill>
              <a:srgbClr val="252A4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" y="1078992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0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automata queda atascado en q_a. No hay estado de aceptacion alcanzado.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11480" y="1389888"/>
            <a:ext cx="8686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0AA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 NO pertenece al lenguaje. El tocado solo es valido desde CC.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743200" y="3063240"/>
            <a:ext cx="1645920" cy="0"/>
          </a:xfrm>
          <a:prstGeom prst="line">
            <a:avLst/>
          </a:prstGeom>
          <a:noFill/>
          <a:ln w="31750">
            <a:solidFill>
              <a:srgbClr val="4A90D9"/>
            </a:solidFill>
            <a:prstDash val="solid"/>
            <a:tailEnd type="arrow"/>
          </a:ln>
        </p:spPr>
      </p:sp>
      <p:sp>
        <p:nvSpPr>
          <p:cNvPr id="18" name="Text 16"/>
          <p:cNvSpPr/>
          <p:nvPr/>
        </p:nvSpPr>
        <p:spPr>
          <a:xfrm>
            <a:off x="2651760" y="278892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90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avance  (PUSH)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3474720"/>
            <a:ext cx="1645920" cy="0"/>
          </a:xfrm>
          <a:prstGeom prst="line">
            <a:avLst/>
          </a:prstGeom>
          <a:noFill/>
          <a:ln w="22860">
            <a:solidFill>
              <a:srgbClr val="A07820"/>
            </a:solidFill>
            <a:prstDash val="dash"/>
            <a:headEnd type="arrow"/>
          </a:ln>
        </p:spPr>
      </p:sp>
      <p:sp>
        <p:nvSpPr>
          <p:cNvPr id="20" name="Text 18"/>
          <p:cNvSpPr/>
          <p:nvPr/>
        </p:nvSpPr>
        <p:spPr>
          <a:xfrm>
            <a:off x="2651760" y="3511296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A078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parada fallida (NO-OP)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2743200" y="3886200"/>
            <a:ext cx="1645920" cy="0"/>
          </a:xfrm>
          <a:prstGeom prst="line">
            <a:avLst/>
          </a:prstGeom>
          <a:noFill/>
          <a:ln w="31750">
            <a:solidFill>
              <a:srgbClr val="E05555"/>
            </a:solidFill>
            <a:prstDash val="solid"/>
            <a:headEnd type="arrow"/>
          </a:ln>
        </p:spPr>
      </p:sp>
      <p:sp>
        <p:nvSpPr>
          <p:cNvPr id="22" name="Text 20"/>
          <p:cNvSpPr/>
          <p:nvPr/>
        </p:nvSpPr>
        <p:spPr>
          <a:xfrm>
            <a:off x="2651760" y="39410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55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retirada  (POP)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395728"/>
            <a:ext cx="4480560" cy="0"/>
          </a:xfrm>
          <a:prstGeom prst="line">
            <a:avLst/>
          </a:prstGeom>
          <a:noFill/>
          <a:ln w="31750">
            <a:solidFill>
              <a:srgbClr val="E0A020"/>
            </a:solidFill>
            <a:prstDash val="solid"/>
            <a:tailEnd type="arrow"/>
          </a:ln>
        </p:spPr>
      </p:sp>
      <p:sp>
        <p:nvSpPr>
          <p:cNvPr id="24" name="Text 22"/>
          <p:cNvSpPr/>
          <p:nvPr/>
        </p:nvSpPr>
        <p:spPr>
          <a:xfrm>
            <a:off x="2743200" y="2139696"/>
            <a:ext cx="4480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tocado (solo desde CC)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23760" y="2395728"/>
            <a:ext cx="0" cy="667512"/>
          </a:xfrm>
          <a:prstGeom prst="line">
            <a:avLst/>
          </a:prstGeom>
          <a:noFill/>
          <a:ln w="19050">
            <a:solidFill>
              <a:srgbClr val="E0A02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7240" y="3474720"/>
            <a:ext cx="576072" cy="0"/>
          </a:xfrm>
          <a:prstGeom prst="line">
            <a:avLst/>
          </a:prstGeom>
          <a:noFill/>
          <a:ln w="19050">
            <a:solidFill>
              <a:srgbClr val="4A5580"/>
            </a:solidFill>
            <a:prstDash val="solid"/>
            <a:tailEnd type="arrow"/>
          </a:ln>
        </p:spPr>
      </p:sp>
      <p:sp>
        <p:nvSpPr>
          <p:cNvPr id="28" name="Text 26"/>
          <p:cNvSpPr/>
          <p:nvPr/>
        </p:nvSpPr>
        <p:spPr>
          <a:xfrm>
            <a:off x="256032" y="3547872"/>
            <a:ext cx="658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5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1261872" y="2724912"/>
            <a:ext cx="1499616" cy="1499616"/>
          </a:xfrm>
          <a:prstGeom prst="ellipse">
            <a:avLst/>
          </a:prstGeom>
          <a:solidFill>
            <a:srgbClr val="2A1A08"/>
          </a:solidFill>
          <a:ln w="38100">
            <a:solidFill>
              <a:srgbClr val="FF6B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53312" y="2816352"/>
            <a:ext cx="1316736" cy="1316736"/>
          </a:xfrm>
          <a:prstGeom prst="ellipse">
            <a:avLst/>
          </a:prstGeom>
          <a:solidFill>
            <a:srgbClr val="261508"/>
          </a:solidFill>
          <a:ln w="31750">
            <a:solidFill>
              <a:srgbClr val="FF6B3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533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6B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q_a</a:t>
            </a:r>
            <a:endParaRPr lang="en-US" sz="2100" dirty="0"/>
          </a:p>
        </p:txBody>
      </p:sp>
      <p:sp>
        <p:nvSpPr>
          <p:cNvPr id="32" name="Text 30"/>
          <p:cNvSpPr/>
          <p:nvPr/>
        </p:nvSpPr>
        <p:spPr>
          <a:xfrm>
            <a:off x="13533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46227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6227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50B8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q_d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446227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296912" y="2816352"/>
            <a:ext cx="1316736" cy="1316736"/>
          </a:xfrm>
          <a:prstGeom prst="ellipse">
            <a:avLst/>
          </a:prstGeom>
          <a:solidFill>
            <a:srgbClr val="10132A"/>
          </a:solidFill>
          <a:ln w="19050">
            <a:solidFill>
              <a:srgbClr val="3A456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96912" y="3236976"/>
            <a:ext cx="1316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q_v</a:t>
            </a:r>
            <a:endParaRPr lang="en-US" sz="2100" dirty="0"/>
          </a:p>
        </p:txBody>
      </p:sp>
      <p:sp>
        <p:nvSpPr>
          <p:cNvPr id="38" name="Text 36"/>
          <p:cNvSpPr/>
          <p:nvPr/>
        </p:nvSpPr>
        <p:spPr>
          <a:xfrm>
            <a:off x="7296912" y="3639312"/>
            <a:ext cx="1316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07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victoria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646920" y="1115568"/>
            <a:ext cx="2148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07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PILA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646920" y="1389888"/>
            <a:ext cx="2148840" cy="0"/>
          </a:xfrm>
          <a:prstGeom prst="line">
            <a:avLst/>
          </a:prstGeom>
          <a:noFill/>
          <a:ln w="12700">
            <a:solidFill>
              <a:srgbClr val="252A4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720072" y="1444752"/>
            <a:ext cx="2002536" cy="393192"/>
          </a:xfrm>
          <a:prstGeom prst="roundRect">
            <a:avLst>
              <a:gd name="adj" fmla="val 13953"/>
            </a:avLst>
          </a:prstGeom>
          <a:solidFill>
            <a:srgbClr val="221500"/>
          </a:solidFill>
          <a:ln w="25400">
            <a:solidFill>
              <a:srgbClr val="E0A02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720072" y="1444752"/>
            <a:ext cx="2002536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0A0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700" dirty="0"/>
          </a:p>
        </p:txBody>
      </p:sp>
      <p:sp>
        <p:nvSpPr>
          <p:cNvPr id="43" name="Text 41"/>
          <p:cNvSpPr/>
          <p:nvPr/>
        </p:nvSpPr>
        <p:spPr>
          <a:xfrm>
            <a:off x="8458200" y="150876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0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tope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6032" y="5897880"/>
            <a:ext cx="11640312" cy="658368"/>
          </a:xfrm>
          <a:prstGeom prst="roundRect">
            <a:avLst>
              <a:gd name="adj" fmla="val 13889"/>
            </a:avLst>
          </a:prstGeom>
          <a:solidFill>
            <a:srgbClr val="200808"/>
          </a:solidFill>
          <a:ln w="31750">
            <a:solidFill>
              <a:srgbClr val="E050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472" y="5897880"/>
            <a:ext cx="1145743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5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 -- no existe transicion definida para ese estado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0132A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" y="6492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A4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PDA - Automata Apilador  |  Esgrima (Florete)  |  Lenguaje y Automatas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2026-07-08T02:15:18Z</dcterms:created>
  <dcterms:modified xsi:type="dcterms:W3CDTF">2026-07-08T02:15:18Z</dcterms:modified>
</cp:coreProperties>
</file>