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377190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33483"/>
          </a:solidFill>
          <a:ln/>
        </p:spPr>
      </p:sp>
      <p:sp>
        <p:nvSpPr>
          <p:cNvPr id="5" name="Text 3"/>
          <p:cNvSpPr/>
          <p:nvPr/>
        </p:nvSpPr>
        <p:spPr>
          <a:xfrm>
            <a:off x="320040" y="256032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 DE AUTÓMATAS Y LENGUAJES FORMALES  //  TRABAJO GRUPAL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20040" y="685800"/>
            <a:ext cx="11430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Autómata Apilador (PDA)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320040" y="150876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Secuencias de Victoria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320040" y="2286000"/>
            <a:ext cx="11521440" cy="0"/>
          </a:xfrm>
          <a:prstGeom prst="line">
            <a:avLst/>
          </a:prstGeom>
          <a:noFill/>
          <a:ln w="19050">
            <a:solidFill>
              <a:srgbClr val="53348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2487168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Dominio: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920240" y="2487168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Esgrima (Florete)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65760" y="2871216"/>
            <a:ext cx="1143000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310896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Modelo: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920240" y="310896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Autómata Apilador — PDA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65760" y="3493008"/>
            <a:ext cx="1143000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730752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Estados: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920240" y="3730752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  /  Defensa  /  Victoria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65760" y="4114800"/>
            <a:ext cx="1143000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4352544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Pila: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920240" y="4352544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posiciones de combate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365760" y="4736592"/>
            <a:ext cx="1143000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4974336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Reglas: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920240" y="4974336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transiciones formales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24" name="Text 22"/>
          <p:cNvSpPr/>
          <p:nvPr/>
        </p:nvSpPr>
        <p:spPr>
          <a:xfrm>
            <a:off x="320040" y="6675120"/>
            <a:ext cx="10972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Alonso Inostrosa Psijas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33483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0" y="164592"/>
            <a:ext cx="1024128" cy="475488"/>
          </a:xfrm>
          <a:prstGeom prst="roundRect">
            <a:avLst>
              <a:gd name="adj" fmla="val 15385"/>
            </a:avLst>
          </a:prstGeom>
          <a:solidFill>
            <a:srgbClr val="0F3460"/>
          </a:solidFill>
          <a:ln w="12700">
            <a:solidFill>
              <a:srgbClr val="53348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0" y="164592"/>
            <a:ext cx="10241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[ 2 ]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28600" y="91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 DE AUTÓMATAS  //  TRABAJO GRUPAL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228600" y="347472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del Dominio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28600" y="91440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Esgrima — ¿por qué es el dominio ideal para este autómata?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28600" y="1325880"/>
            <a:ext cx="11841480" cy="0"/>
          </a:xfrm>
          <a:prstGeom prst="line">
            <a:avLst/>
          </a:prstGeom>
          <a:noFill/>
          <a:ln w="15240">
            <a:solidFill>
              <a:srgbClr val="53348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" y="1499616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4360" y="1481328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Combate de florete entre dos tiradores: el Atacante y el Defensor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94360" y="2391522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032" y="2510942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94360" y="2492654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el Atacante puede ejecutar un tocado — esto garantiza que solo uno puede ganar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94360" y="3402848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6032" y="3522269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4360" y="3503981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distancias forman una escalera de cinco posiciones que se pueden recorrer hacia adelante y hacia atrás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94360" y="4414175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6032" y="4533595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94360" y="4515307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Defensor solo puede retroceder o fallar la parada — nunca puede ganar por sus propias acciones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594360" y="5425501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6032" y="5544922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94360" y="5526634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 hace al dominio ideal: hay dos roles, una escalera de estados, y un solo ganador posible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26" name="Text 24"/>
          <p:cNvSpPr/>
          <p:nvPr/>
        </p:nvSpPr>
        <p:spPr>
          <a:xfrm>
            <a:off x="228600" y="6675120"/>
            <a:ext cx="10972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33483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0" y="164592"/>
            <a:ext cx="1024128" cy="475488"/>
          </a:xfrm>
          <a:prstGeom prst="roundRect">
            <a:avLst>
              <a:gd name="adj" fmla="val 15385"/>
            </a:avLst>
          </a:prstGeom>
          <a:solidFill>
            <a:srgbClr val="0F3460"/>
          </a:solidFill>
          <a:ln w="12700">
            <a:solidFill>
              <a:srgbClr val="53348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0" y="164592"/>
            <a:ext cx="10241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[ 3 ]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28600" y="91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 DE AUTÓMATAS  //  TRABAJO GRUPAL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228600" y="347472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 Formal del Autómata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28600" y="91440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siete componentes que definen completamente el PDA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28600" y="1325880"/>
            <a:ext cx="11841480" cy="0"/>
          </a:xfrm>
          <a:prstGeom prst="line">
            <a:avLst/>
          </a:prstGeom>
          <a:noFill/>
          <a:ln w="15240">
            <a:solidFill>
              <a:srgbClr val="53348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" y="1499616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4360" y="1481328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— tres estados: turno del atacante, turno del defensor, y victoria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94360" y="2391522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032" y="2510942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94360" y="2492654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— cuatro acciones: avanzar y hacer tocado para el atacante; retroceder y fallar la parada para el defensor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94360" y="3402848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6032" y="3522269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4360" y="3503981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Γ — cinco símbolos de la pila: las cinco posiciones del combate (En Garde, Largo, Medio, Corto, Corps-à-corps)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94360" y="4414175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6032" y="4533595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94360" y="4515307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q₀ y Z₀ — el autómata siempre empieza con el turno del atacante parado en la posición de guardia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594360" y="5425501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6032" y="5544922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94360" y="5526634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— el único estado de aceptación es la victoria, que solo el atacante puede alcanzar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26" name="Text 24"/>
          <p:cNvSpPr/>
          <p:nvPr/>
        </p:nvSpPr>
        <p:spPr>
          <a:xfrm>
            <a:off x="228600" y="6675120"/>
            <a:ext cx="10972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33483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0" y="164592"/>
            <a:ext cx="1024128" cy="475488"/>
          </a:xfrm>
          <a:prstGeom prst="roundRect">
            <a:avLst>
              <a:gd name="adj" fmla="val 15385"/>
            </a:avLst>
          </a:prstGeom>
          <a:solidFill>
            <a:srgbClr val="0F3460"/>
          </a:solidFill>
          <a:ln w="12700">
            <a:solidFill>
              <a:srgbClr val="53348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0" y="164592"/>
            <a:ext cx="10241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[ 4 ]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28600" y="91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 DE AUTÓMATAS  //  TRABAJO GRUPAL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228600" y="347472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Pila — Por qué necesitamos un PDA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28600" y="91440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no alcanza un autómata finito (AFD)?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28600" y="1325880"/>
            <a:ext cx="11841480" cy="0"/>
          </a:xfrm>
          <a:prstGeom prst="line">
            <a:avLst/>
          </a:prstGeom>
          <a:noFill/>
          <a:ln w="15240">
            <a:solidFill>
              <a:srgbClr val="53348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" y="1499616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4360" y="1481328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avance apila la nueva posición — la pila crece y recuerda el historial completo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94360" y="2391522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032" y="2510942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94360" y="2492654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retirada desapila el tope — el autómata vuelve exactamente a donde estaba antes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94360" y="3402848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6032" y="3522269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4360" y="3503981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parada fallida no cambia la pila — solo pasa el turno sin mover la posición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94360" y="4414175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6032" y="4533595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94360" y="4515307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AFD no tiene memoria: no puede saber a qué posición exacta regresar luego de varias retiradas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594360" y="5425501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6032" y="5544922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94360" y="5526634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pila resuelve esto — por eso necesitamos un PDA y no un autómata finito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26" name="Text 24"/>
          <p:cNvSpPr/>
          <p:nvPr/>
        </p:nvSpPr>
        <p:spPr>
          <a:xfrm>
            <a:off x="228600" y="6675120"/>
            <a:ext cx="10972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33483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0" y="164592"/>
            <a:ext cx="1024128" cy="475488"/>
          </a:xfrm>
          <a:prstGeom prst="roundRect">
            <a:avLst>
              <a:gd name="adj" fmla="val 15385"/>
            </a:avLst>
          </a:prstGeom>
          <a:solidFill>
            <a:srgbClr val="0F3460"/>
          </a:solidFill>
          <a:ln w="12700">
            <a:solidFill>
              <a:srgbClr val="53348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0" y="164592"/>
            <a:ext cx="10241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[ 5 ]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28600" y="91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 DE AUTÓMATAS  //  TRABAJO GRUPAL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228600" y="347472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Estados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28600" y="91440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estados, cuatro tipos de flechas, un solo camino a la victoria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28600" y="1325880"/>
            <a:ext cx="11841480" cy="0"/>
          </a:xfrm>
          <a:prstGeom prst="line">
            <a:avLst/>
          </a:prstGeom>
          <a:noFill/>
          <a:ln w="15240">
            <a:solidFill>
              <a:srgbClr val="533483"/>
            </a:solidFill>
            <a:prstDash val="solid"/>
          </a:ln>
        </p:spPr>
      </p:sp>
      <p:pic>
        <p:nvPicPr>
          <p:cNvPr id="11" name="Image 0" descr="C:\Users\HP Pro\Desktop\automata_proyecto\grafo_p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592" y="1417320"/>
            <a:ext cx="7132320" cy="50749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7452360" y="1527048"/>
            <a:ext cx="256032" cy="5884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726680" y="1508760"/>
            <a:ext cx="4315968" cy="5884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q_a — turno del atacante (estado inicial)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589520" y="2131858"/>
            <a:ext cx="443484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452360" y="2219379"/>
            <a:ext cx="256032" cy="5884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7726680" y="2201091"/>
            <a:ext cx="4315968" cy="5884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q_d — turno del defensor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589520" y="2824190"/>
            <a:ext cx="443484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52360" y="2911711"/>
            <a:ext cx="256032" cy="5884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7726680" y="2893423"/>
            <a:ext cx="4315968" cy="5884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q_v — victoria (doble círculo = acepta)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589520" y="3516521"/>
            <a:ext cx="443484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452360" y="3604042"/>
            <a:ext cx="256032" cy="5884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7726680" y="3585754"/>
            <a:ext cx="4315968" cy="5884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Azul: el atacante avanza y apila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7589520" y="4208853"/>
            <a:ext cx="443484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452360" y="4296374"/>
            <a:ext cx="256032" cy="5884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7726680" y="4278086"/>
            <a:ext cx="4315968" cy="5884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Rojo: el defensor retrocede y desapila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7589520" y="4901184"/>
            <a:ext cx="443484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452360" y="4988705"/>
            <a:ext cx="256032" cy="5884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7726680" y="4970417"/>
            <a:ext cx="4315968" cy="5884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Punteado: parada fallida, nada cambia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7589520" y="5593515"/>
            <a:ext cx="443484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452360" y="5681037"/>
            <a:ext cx="256032" cy="5884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7726680" y="5662749"/>
            <a:ext cx="4315968" cy="5884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Dorado: tocado desde la posición más cercana — única forma de ganar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33" name="Text 30"/>
          <p:cNvSpPr/>
          <p:nvPr/>
        </p:nvSpPr>
        <p:spPr>
          <a:xfrm>
            <a:off x="228600" y="6675120"/>
            <a:ext cx="10972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33483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0" y="164592"/>
            <a:ext cx="1024128" cy="475488"/>
          </a:xfrm>
          <a:prstGeom prst="roundRect">
            <a:avLst>
              <a:gd name="adj" fmla="val 15385"/>
            </a:avLst>
          </a:prstGeom>
          <a:solidFill>
            <a:srgbClr val="0F3460"/>
          </a:solidFill>
          <a:ln w="12700">
            <a:solidFill>
              <a:srgbClr val="53348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0" y="164592"/>
            <a:ext cx="10241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[ 6 ]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28600" y="91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 DE AUTÓMATAS  //  TRABAJO GRUPAL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228600" y="347472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de Transiciones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28600" y="91440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reglas que describen todos los movimientos posibles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28600" y="1325880"/>
            <a:ext cx="11841480" cy="0"/>
          </a:xfrm>
          <a:prstGeom prst="line">
            <a:avLst/>
          </a:prstGeom>
          <a:noFill/>
          <a:ln w="15240">
            <a:solidFill>
              <a:srgbClr val="53348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" y="1499616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4360" y="1481328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cinco reglas para el atacante: cuatro de avance y una de tocado que lleva a la victoria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94360" y="2391522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032" y="2510942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94360" y="2492654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tocado solo es válido cuando el atacante está en corps-à-corps, la posición más cercana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94360" y="3402848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6032" y="3522269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4360" y="3503981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cuatro reglas de retirada: el defensor retrocede desde cualquier posición, excepto desde la guardia inicial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94360" y="4414175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6032" y="4533595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94360" y="4515307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cuatro reglas de parada fallida: no cambia nada, solo pasa el turno al atacante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594360" y="5425501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6032" y="5544922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94360" y="5526634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se intenta una acción que no tiene regla definida, el autómata rechaza la cadena inmediatamente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26" name="Text 24"/>
          <p:cNvSpPr/>
          <p:nvPr/>
        </p:nvSpPr>
        <p:spPr>
          <a:xfrm>
            <a:off x="228600" y="6675120"/>
            <a:ext cx="10972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33483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0" y="164592"/>
            <a:ext cx="1024128" cy="475488"/>
          </a:xfrm>
          <a:prstGeom prst="roundRect">
            <a:avLst>
              <a:gd name="adj" fmla="val 15385"/>
            </a:avLst>
          </a:prstGeom>
          <a:solidFill>
            <a:srgbClr val="0F3460"/>
          </a:solidFill>
          <a:ln w="12700">
            <a:solidFill>
              <a:srgbClr val="53348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0" y="164592"/>
            <a:ext cx="10241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[ 7 ]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28600" y="91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 DE AUTÓMATAS  //  TRABAJO GRUPAL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228600" y="347472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Aceptada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28600" y="91440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Secuencia que el autómata acepta — el atacante llega a victoria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28600" y="1325880"/>
            <a:ext cx="11841480" cy="0"/>
          </a:xfrm>
          <a:prstGeom prst="line">
            <a:avLst/>
          </a:prstGeom>
          <a:noFill/>
          <a:ln w="15240">
            <a:solidFill>
              <a:srgbClr val="53348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" y="1499616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4360" y="1481328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avanza hasta largo — el defensor falla la parada y no logra nada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94360" y="2391522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032" y="2510942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94360" y="2492654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avanza a medio — el defensor logra retroceder y lo empuja de vuelta a largo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94360" y="3402848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6032" y="3522269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4360" y="3503981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re-avanza a medio, luego a corto, luego a corps-à-corps — la pila acumula todo el recorrido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94360" y="4414175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6032" y="4533595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94360" y="4515307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defensor vuelve a fallar la parada — no puede detener el remate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594360" y="5425501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6032" y="5544922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94360" y="5526634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ejecuta el tocado desde corps-à-corps — el autómata acepta, la cadena pertenece al lenguaje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26" name="Text 24"/>
          <p:cNvSpPr/>
          <p:nvPr/>
        </p:nvSpPr>
        <p:spPr>
          <a:xfrm>
            <a:off x="228600" y="6675120"/>
            <a:ext cx="10972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33483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0" y="164592"/>
            <a:ext cx="1024128" cy="475488"/>
          </a:xfrm>
          <a:prstGeom prst="roundRect">
            <a:avLst>
              <a:gd name="adj" fmla="val 15385"/>
            </a:avLst>
          </a:prstGeom>
          <a:solidFill>
            <a:srgbClr val="0F3460"/>
          </a:solidFill>
          <a:ln w="12700">
            <a:solidFill>
              <a:srgbClr val="53348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0" y="164592"/>
            <a:ext cx="10241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[ 8 ]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28600" y="91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 DE AUTÓMATAS  //  TRABAJO GRUPAL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228600" y="347472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Rechazada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28600" y="91440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Secuencia que el autómata rechaza — el atacante no puede rematar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28600" y="1325880"/>
            <a:ext cx="11841480" cy="0"/>
          </a:xfrm>
          <a:prstGeom prst="line">
            <a:avLst/>
          </a:prstGeom>
          <a:noFill/>
          <a:ln w="15240">
            <a:solidFill>
              <a:srgbClr val="53348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" y="1499616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4360" y="1481328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avanza hasta largo — primer movimiento válido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94360" y="2391522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032" y="2510942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94360" y="2492654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defensor logra retroceder — empuja al atacante de vuelta a la posición de guardia inicial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94360" y="3402848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6032" y="3522269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4360" y="3503981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intenta hacer el tocado estando en la guardia inicial — esa acción no existe en la tabla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94360" y="4414175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6032" y="4533595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94360" y="4515307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autómata rechaza inmediatamente: no hay transición definida para esa situación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594360" y="5425501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6032" y="5544922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94360" y="5526634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Razón: el tocado solo es válido desde corps-à-corps — intentarlo desde la guardia es inválido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26" name="Text 24"/>
          <p:cNvSpPr/>
          <p:nvPr/>
        </p:nvSpPr>
        <p:spPr>
          <a:xfrm>
            <a:off x="228600" y="6675120"/>
            <a:ext cx="10972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33483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0" y="164592"/>
            <a:ext cx="1024128" cy="475488"/>
          </a:xfrm>
          <a:prstGeom prst="roundRect">
            <a:avLst>
              <a:gd name="adj" fmla="val 15385"/>
            </a:avLst>
          </a:prstGeom>
          <a:solidFill>
            <a:srgbClr val="0F3460"/>
          </a:solidFill>
          <a:ln w="12700">
            <a:solidFill>
              <a:srgbClr val="53348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0" y="164592"/>
            <a:ext cx="10241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[ 9 ]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28600" y="91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 DE AUTÓMATAS  //  TRABAJO GRUPAL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228600" y="347472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Criterios de Evaluación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28600" y="91440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Entrevista grupal · 10 minutos · Todos deben poder responder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28600" y="1325880"/>
            <a:ext cx="11841480" cy="0"/>
          </a:xfrm>
          <a:prstGeom prst="line">
            <a:avLst/>
          </a:prstGeom>
          <a:noFill/>
          <a:ln w="15240">
            <a:solidFill>
              <a:srgbClr val="53348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" y="1499616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4360" y="1481328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puntos — explicar el dominio: los roles, las posiciones y la condición de victoria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94360" y="2391522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032" y="2510942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94360" y="2492654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puntos — definición formal completa: los siete componentes, el diagrama y la tabla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94360" y="3402848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6032" y="3522269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4360" y="3503981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puntos — justificar las decisiones: por qué la pila, por qué PDA y no AFD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94360" y="4414175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6032" y="4533595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94360" y="4515307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+ 12 puntos — trazar paso a paso la cadena aceptada y explicar la rechazada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594360" y="5425501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6032" y="5544922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94360" y="5526634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+ 6 puntos — justificar el dominio y responder las preguntas del profesor con solvencia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26" name="Text 24"/>
          <p:cNvSpPr/>
          <p:nvPr/>
        </p:nvSpPr>
        <p:spPr>
          <a:xfrm>
            <a:off x="228600" y="6675120"/>
            <a:ext cx="10972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2026-07-04T01:15:04Z</dcterms:created>
  <dcterms:modified xsi:type="dcterms:W3CDTF">2026-07-04T01:15:04Z</dcterms:modified>
</cp:coreProperties>
</file>