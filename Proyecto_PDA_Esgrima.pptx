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Autómata Apilador (PDA)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0058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3D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Secuencias de Victoria — Esgrima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5544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E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y Lenguajes Formales  ·  Dr. Alonso Inostrosa Psijas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834640"/>
            <a:ext cx="2194560" cy="502920"/>
          </a:xfrm>
          <a:prstGeom prst="rect">
            <a:avLst/>
          </a:prstGeom>
          <a:solidFill>
            <a:srgbClr val="E3F0FB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290779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29260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Esgrima (Florete)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3337560"/>
            <a:ext cx="11457432" cy="0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3493008"/>
            <a:ext cx="2194560" cy="502920"/>
          </a:xfrm>
          <a:prstGeom prst="rect">
            <a:avLst/>
          </a:prstGeom>
          <a:solidFill>
            <a:srgbClr val="E3F0FB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35661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358444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PDA — Pushdown Automaton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995928"/>
            <a:ext cx="11457432" cy="0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4151376"/>
            <a:ext cx="2194560" cy="502920"/>
          </a:xfrm>
          <a:prstGeom prst="rect">
            <a:avLst/>
          </a:prstGeom>
          <a:solidFill>
            <a:srgbClr val="E3F0FB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42245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51760" y="4242816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{ q_a, q_d, q_v }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654296"/>
            <a:ext cx="11457432" cy="0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4809744"/>
            <a:ext cx="2194560" cy="502920"/>
          </a:xfrm>
          <a:prstGeom prst="rect">
            <a:avLst/>
          </a:prstGeom>
          <a:solidFill>
            <a:srgbClr val="E3F0FB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4882896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 Γ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651760" y="4901184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G, L, M, C, CC } — 5 posiciones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5312664"/>
            <a:ext cx="11457432" cy="0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5468112"/>
            <a:ext cx="2194560" cy="502920"/>
          </a:xfrm>
          <a:prstGeom prst="rect">
            <a:avLst/>
          </a:prstGeom>
          <a:solidFill>
            <a:srgbClr val="E3F0FB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554126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δ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651760" y="555955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transiciones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5971032"/>
            <a:ext cx="11457432" cy="0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565C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Dominio de Aplicación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Esgrima: el combate como lenguaje formal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70432"/>
            <a:ext cx="5394960" cy="2286000"/>
          </a:xfrm>
          <a:prstGeom prst="roundRect">
            <a:avLst>
              <a:gd name="adj" fmla="val 2400"/>
            </a:avLst>
          </a:prstGeom>
          <a:solidFill>
            <a:srgbClr val="F6F8FA"/>
          </a:solidFill>
          <a:ln w="8890">
            <a:solidFill>
              <a:srgbClr val="E1E4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6187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del combate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627632"/>
            <a:ext cx="11457432" cy="0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73736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🗡️  Tirador A — Atacante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05740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 hacia el contrincante para ejecutar el tocado.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395728"/>
            <a:ext cx="11457432" cy="0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48716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 Tirador O — Defensor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816352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Retrocede o falla la parada. Nunca puede ganar.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89320" y="1170432"/>
            <a:ext cx="5806440" cy="2286000"/>
          </a:xfrm>
          <a:prstGeom prst="roundRect">
            <a:avLst>
              <a:gd name="adj" fmla="val 2400"/>
            </a:avLst>
          </a:prstGeom>
          <a:solidFill>
            <a:srgbClr val="E8F5E9"/>
          </a:solidFill>
          <a:ln w="8890">
            <a:solidFill>
              <a:srgbClr val="E1E4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1261872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Esgrima?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1627632"/>
            <a:ext cx="11457432" cy="0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737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Solo A puede hacer tocado → solo 1 ganador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26480" y="2084832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Distancias forman escalera lineal de 5 posiciones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26480" y="2432304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Reversibilidad natural: retirada es un pop exacto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277977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La pila recuerda el historial de posiciones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26480" y="31272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Alterna claramente entre turno A y turno 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639312"/>
            <a:ext cx="11430000" cy="182880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8890">
            <a:solidFill>
              <a:srgbClr val="E1E4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712464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Escalera de Distancias — 5 posiciones del símbolo de la pila Γ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160520"/>
            <a:ext cx="914400" cy="914400"/>
          </a:xfrm>
          <a:prstGeom prst="ellipse">
            <a:avLst/>
          </a:prstGeom>
          <a:solidFill>
            <a:srgbClr val="E3F0FB"/>
          </a:solidFill>
          <a:ln w="15240">
            <a:solidFill>
              <a:srgbClr val="1565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31596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8640" y="516636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Garde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(inicio)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572768" y="4617720"/>
            <a:ext cx="1133856" cy="0"/>
          </a:xfrm>
          <a:prstGeom prst="line">
            <a:avLst/>
          </a:prstGeom>
          <a:noFill/>
          <a:ln w="15240">
            <a:solidFill>
              <a:srgbClr val="1565C0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1572768" y="4389120"/>
            <a:ext cx="1133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724912" y="4160520"/>
            <a:ext cx="914400" cy="914400"/>
          </a:xfrm>
          <a:prstGeom prst="ellipse">
            <a:avLst/>
          </a:prstGeom>
          <a:solidFill>
            <a:srgbClr val="E3F0FB"/>
          </a:solidFill>
          <a:ln w="15240">
            <a:solidFill>
              <a:srgbClr val="1565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24912" y="431596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633472" y="516636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657600" y="4617720"/>
            <a:ext cx="1133856" cy="0"/>
          </a:xfrm>
          <a:prstGeom prst="line">
            <a:avLst/>
          </a:prstGeom>
          <a:noFill/>
          <a:ln w="15240">
            <a:solidFill>
              <a:srgbClr val="1565C0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3657600" y="4389120"/>
            <a:ext cx="1133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809744" y="4160520"/>
            <a:ext cx="914400" cy="914400"/>
          </a:xfrm>
          <a:prstGeom prst="ellipse">
            <a:avLst/>
          </a:prstGeom>
          <a:solidFill>
            <a:srgbClr val="E3F0FB"/>
          </a:solidFill>
          <a:ln w="15240">
            <a:solidFill>
              <a:srgbClr val="1565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9744" y="431596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718304" y="516636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742432" y="4617720"/>
            <a:ext cx="1133856" cy="0"/>
          </a:xfrm>
          <a:prstGeom prst="line">
            <a:avLst/>
          </a:prstGeom>
          <a:noFill/>
          <a:ln w="15240">
            <a:solidFill>
              <a:srgbClr val="1565C0"/>
            </a:solidFill>
            <a:prstDash val="solid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5742432" y="4389120"/>
            <a:ext cx="1133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894576" y="4160520"/>
            <a:ext cx="914400" cy="914400"/>
          </a:xfrm>
          <a:prstGeom prst="ellipse">
            <a:avLst/>
          </a:prstGeom>
          <a:solidFill>
            <a:srgbClr val="E3F0FB"/>
          </a:solidFill>
          <a:ln w="15240">
            <a:solidFill>
              <a:srgbClr val="1565C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94576" y="431596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803136" y="516636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827264" y="4617720"/>
            <a:ext cx="1133856" cy="0"/>
          </a:xfrm>
          <a:prstGeom prst="line">
            <a:avLst/>
          </a:prstGeom>
          <a:noFill/>
          <a:ln w="15240">
            <a:solidFill>
              <a:srgbClr val="1565C0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7827264" y="4389120"/>
            <a:ext cx="1133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8979408" y="4160520"/>
            <a:ext cx="914400" cy="914400"/>
          </a:xfrm>
          <a:prstGeom prst="ellipse">
            <a:avLst/>
          </a:prstGeom>
          <a:solidFill>
            <a:srgbClr val="E3F0FB"/>
          </a:solidFill>
          <a:ln w="15240">
            <a:solidFill>
              <a:srgbClr val="1565C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979408" y="431596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887968" y="516636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Corps-à-corps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0698480" y="4617720"/>
            <a:ext cx="685800" cy="0"/>
          </a:xfrm>
          <a:prstGeom prst="line">
            <a:avLst/>
          </a:prstGeom>
          <a:noFill/>
          <a:ln w="25400">
            <a:solidFill>
              <a:srgbClr val="E65100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11411712" y="4160520"/>
            <a:ext cx="713232" cy="914400"/>
          </a:xfrm>
          <a:prstGeom prst="ellipse">
            <a:avLst/>
          </a:prstGeom>
          <a:solidFill>
            <a:srgbClr val="FFF3E0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1411712" y="4343400"/>
            <a:ext cx="713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10698480" y="4389120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tocado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320272" y="5166360"/>
            <a:ext cx="896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565C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Definición Formal del PDA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= (Q, Σ, Γ, δ, q₀, Z₀, F)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70432"/>
            <a:ext cx="11430000" cy="512064"/>
          </a:xfrm>
          <a:prstGeom prst="rect">
            <a:avLst/>
          </a:prstGeom>
          <a:solidFill>
            <a:srgbClr val="F6F8FA"/>
          </a:solidFill>
          <a:ln w="8890">
            <a:solidFill>
              <a:srgbClr val="E1E4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43584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24358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q_a, q_d, q_v }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170432"/>
            <a:ext cx="11457432" cy="0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1170432"/>
            <a:ext cx="0" cy="512064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0" y="1170432"/>
            <a:ext cx="0" cy="512064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0" y="1261872"/>
            <a:ext cx="6080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Estados: ataque (turno A), defensa (turno O), victoria (fin)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737360"/>
            <a:ext cx="11430000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E1E4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810512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Σ_A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181051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avance, tocado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37360"/>
            <a:ext cx="11457432" cy="0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71600" y="1737360"/>
            <a:ext cx="0" cy="512064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0" y="1737360"/>
            <a:ext cx="0" cy="512064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77840" y="1828800"/>
            <a:ext cx="6080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del Atacante (A)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304288"/>
            <a:ext cx="11430000" cy="512064"/>
          </a:xfrm>
          <a:prstGeom prst="rect">
            <a:avLst/>
          </a:prstGeom>
          <a:solidFill>
            <a:srgbClr val="F6F8FA"/>
          </a:solidFill>
          <a:ln w="8890">
            <a:solidFill>
              <a:srgbClr val="E1E4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37744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Σ_O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237744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retirada, parada_fallida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2304288"/>
            <a:ext cx="11457432" cy="0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71600" y="2304288"/>
            <a:ext cx="0" cy="512064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0" y="2304288"/>
            <a:ext cx="0" cy="512064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77840" y="2395728"/>
            <a:ext cx="6080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del Defensor (O)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2871216"/>
            <a:ext cx="11430000" cy="512064"/>
          </a:xfrm>
          <a:prstGeom prst="rect">
            <a:avLst/>
          </a:prstGeom>
          <a:solidFill>
            <a:srgbClr val="E8F5E9"/>
          </a:solidFill>
          <a:ln w="889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2944368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Γ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294436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G, L, M, C, CC }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5760" y="2871216"/>
            <a:ext cx="11457432" cy="0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71600" y="2871216"/>
            <a:ext cx="0" cy="512064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0" y="2871216"/>
            <a:ext cx="0" cy="512064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77840" y="2962656"/>
            <a:ext cx="6080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símbolos de la pila = 5 posiciones de combate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3438144"/>
            <a:ext cx="11430000" cy="512064"/>
          </a:xfrm>
          <a:prstGeom prst="rect">
            <a:avLst/>
          </a:prstGeom>
          <a:solidFill>
            <a:srgbClr val="F6F8FA"/>
          </a:solidFill>
          <a:ln w="8890">
            <a:solidFill>
              <a:srgbClr val="E1E4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3511296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q₀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417320" y="3511296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3438144"/>
            <a:ext cx="11457432" cy="0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371600" y="3438144"/>
            <a:ext cx="0" cy="512064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0" y="3438144"/>
            <a:ext cx="0" cy="512064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3529584"/>
            <a:ext cx="6080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inicial (siempre empieza el atacante)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65760" y="4005072"/>
            <a:ext cx="11430000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E1E4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2920" y="4078224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Z₀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417320" y="407822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005072"/>
            <a:ext cx="11457432" cy="0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371600" y="4005072"/>
            <a:ext cx="0" cy="512064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0" y="4005072"/>
            <a:ext cx="0" cy="512064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77840" y="4096512"/>
            <a:ext cx="6080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Símbolo inicial de la pila (posición En Garde)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365760" y="4572000"/>
            <a:ext cx="11430000" cy="512064"/>
          </a:xfrm>
          <a:prstGeom prst="rect">
            <a:avLst/>
          </a:prstGeom>
          <a:solidFill>
            <a:srgbClr val="F6F8FA"/>
          </a:solidFill>
          <a:ln w="8890">
            <a:solidFill>
              <a:srgbClr val="E1E4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2920" y="4645152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417320" y="4645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q_v }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4572000"/>
            <a:ext cx="11457432" cy="0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371600" y="4572000"/>
            <a:ext cx="0" cy="512064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486400" y="4572000"/>
            <a:ext cx="0" cy="512064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77840" y="4663440"/>
            <a:ext cx="6080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aceptación — victoria del atacante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365760" y="5532120"/>
            <a:ext cx="11430000" cy="777240"/>
          </a:xfrm>
          <a:prstGeom prst="roundRect">
            <a:avLst>
              <a:gd name="adj" fmla="val 7059"/>
            </a:avLst>
          </a:prstGeom>
          <a:solidFill>
            <a:srgbClr val="E3F0FB"/>
          </a:solidFill>
          <a:ln w="8890">
            <a:solidFill>
              <a:srgbClr val="1565C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48640" y="566928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Semántica de la pila:  </a:t>
            </a:r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</a:t>
            </a:r>
            <a:pPr indent="0" marL="0">
              <a:buNone/>
            </a:pPr>
            <a:r>
              <a:rPr lang="en-US" sz="12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PUSH nueva posición  |  </a:t>
            </a:r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retirada </a:t>
            </a:r>
            <a:pPr indent="0" marL="0">
              <a:buNone/>
            </a:pPr>
            <a:r>
              <a:rPr lang="en-US" sz="12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POP (retrocede)  |  </a:t>
            </a:r>
            <a:pPr indent="0" marL="0">
              <a:buNone/>
            </a:pPr>
            <a:r>
              <a:rPr lang="en-US" sz="1200" b="1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parada_fallida </a:t>
            </a:r>
            <a:pPr indent="0" marL="0">
              <a:buNone/>
            </a:pPr>
            <a:r>
              <a:rPr lang="en-US" sz="12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NO-OP (pila sin cambios)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565C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Diagrama de Estados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Notación de aristas:  símbolo_leído, tope / pila_resultante  |  ε = pop sin reemplazo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371600" y="2606040"/>
            <a:ext cx="1280160" cy="1280160"/>
          </a:xfrm>
          <a:prstGeom prst="ellipse">
            <a:avLst/>
          </a:prstGeom>
          <a:solidFill>
            <a:srgbClr val="E3F0FB"/>
          </a:solidFill>
          <a:ln w="254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283464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333756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65760" y="3246120"/>
            <a:ext cx="987552" cy="0"/>
          </a:xfrm>
          <a:prstGeom prst="line">
            <a:avLst/>
          </a:prstGeom>
          <a:noFill/>
          <a:ln w="16510">
            <a:solidFill>
              <a:srgbClr val="24292E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274320" y="29443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58968" y="2606040"/>
            <a:ext cx="1280160" cy="1280160"/>
          </a:xfrm>
          <a:prstGeom prst="ellipse">
            <a:avLst/>
          </a:prstGeom>
          <a:solidFill>
            <a:srgbClr val="E8F5E9"/>
          </a:solidFill>
          <a:ln w="25400">
            <a:solidFill>
              <a:srgbClr val="006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58968" y="283464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58968" y="333756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9555480" y="2606040"/>
            <a:ext cx="1280160" cy="1280160"/>
          </a:xfrm>
          <a:prstGeom prst="ellipse">
            <a:avLst/>
          </a:prstGeom>
          <a:solidFill>
            <a:srgbClr val="FFF3E0"/>
          </a:solidFill>
          <a:ln w="31750">
            <a:solidFill>
              <a:srgbClr val="E651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10928" y="2761488"/>
            <a:ext cx="969264" cy="969264"/>
          </a:xfrm>
          <a:prstGeom prst="ellipse">
            <a:avLst/>
          </a:prstGeom>
          <a:solidFill>
            <a:srgbClr val="0000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5480" y="283464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555480" y="333756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 ★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555480" y="361188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(estado final)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670048" y="2743200"/>
            <a:ext cx="2770632" cy="0"/>
          </a:xfrm>
          <a:prstGeom prst="line">
            <a:avLst/>
          </a:prstGeom>
          <a:noFill/>
          <a:ln w="19050">
            <a:solidFill>
              <a:srgbClr val="1565C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286000" y="1170432"/>
            <a:ext cx="3108960" cy="1417320"/>
          </a:xfrm>
          <a:prstGeom prst="roundRect">
            <a:avLst>
              <a:gd name="adj" fmla="val 3871"/>
            </a:avLst>
          </a:prstGeom>
          <a:solidFill>
            <a:srgbClr val="E3F0FB"/>
          </a:solidFill>
          <a:ln w="8890">
            <a:solidFill>
              <a:srgbClr val="1565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121615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331720" y="1490472"/>
            <a:ext cx="2971800" cy="0"/>
          </a:xfrm>
          <a:prstGeom prst="line">
            <a:avLst/>
          </a:prstGeom>
          <a:noFill/>
          <a:ln w="5080">
            <a:solidFill>
              <a:srgbClr val="E1E4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31720" y="1508760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avance, G / L·G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331720" y="1719072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avance, L / M·L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331720" y="1929384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avance, M / C·M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331720" y="2139696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avance, C / CC·C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858768" y="2587752"/>
            <a:ext cx="0" cy="155448"/>
          </a:xfrm>
          <a:prstGeom prst="line">
            <a:avLst/>
          </a:prstGeom>
          <a:noFill/>
          <a:ln w="8890">
            <a:solidFill>
              <a:srgbClr val="1565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40680" y="3749040"/>
            <a:ext cx="-2770632" cy="0"/>
          </a:xfrm>
          <a:prstGeom prst="line">
            <a:avLst/>
          </a:prstGeom>
          <a:noFill/>
          <a:ln w="19050">
            <a:solidFill>
              <a:srgbClr val="C6282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286000" y="4005072"/>
            <a:ext cx="3108960" cy="1188720"/>
          </a:xfrm>
          <a:prstGeom prst="roundRect">
            <a:avLst>
              <a:gd name="adj" fmla="val 4615"/>
            </a:avLst>
          </a:prstGeom>
          <a:solidFill>
            <a:srgbClr val="FFEBEE"/>
          </a:solidFill>
          <a:ln w="8890">
            <a:solidFill>
              <a:srgbClr val="C6282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77440" y="4050792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retirada  (pop = ε)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331720" y="4306824"/>
            <a:ext cx="2971800" cy="0"/>
          </a:xfrm>
          <a:prstGeom prst="line">
            <a:avLst/>
          </a:prstGeom>
          <a:noFill/>
          <a:ln w="5080">
            <a:solidFill>
              <a:srgbClr val="FFC1C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331720" y="4325112"/>
            <a:ext cx="3017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retirada, L / ε  (→ G)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331720" y="4517136"/>
            <a:ext cx="3017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retirada, M / ε  (→ L)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331720" y="4709160"/>
            <a:ext cx="3017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retirada, C / ε  (→ M)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2331720" y="4901184"/>
            <a:ext cx="3017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retirada, CC / ε (→ C)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858768" y="4005072"/>
            <a:ext cx="0" cy="-256032"/>
          </a:xfrm>
          <a:prstGeom prst="line">
            <a:avLst/>
          </a:prstGeom>
          <a:noFill/>
          <a:ln w="8890">
            <a:solidFill>
              <a:srgbClr val="C6282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40680" y="3493008"/>
            <a:ext cx="-2770632" cy="0"/>
          </a:xfrm>
          <a:prstGeom prst="line">
            <a:avLst/>
          </a:prstGeom>
          <a:noFill/>
          <a:ln w="15240">
            <a:solidFill>
              <a:srgbClr val="586069"/>
            </a:solidFill>
            <a:prstDash val="sysDash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2377440" y="3310128"/>
            <a:ext cx="2926080" cy="201168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8890">
            <a:solidFill>
              <a:srgbClr val="E1E4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95728" y="3319272"/>
            <a:ext cx="2907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parada_fallida, X / X  (X ∈ {L,M,C,CC})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670048" y="3063240"/>
            <a:ext cx="6867144" cy="0"/>
          </a:xfrm>
          <a:prstGeom prst="line">
            <a:avLst/>
          </a:prstGeom>
          <a:noFill/>
          <a:ln w="25400">
            <a:solidFill>
              <a:srgbClr val="E65100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846320" y="2029968"/>
            <a:ext cx="2926080" cy="411480"/>
          </a:xfrm>
          <a:prstGeom prst="roundRect">
            <a:avLst>
              <a:gd name="adj" fmla="val 13333"/>
            </a:avLst>
          </a:prstGeom>
          <a:solidFill>
            <a:srgbClr val="FFF3E0"/>
          </a:solidFill>
          <a:ln w="8890">
            <a:solidFill>
              <a:srgbClr val="E651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37760" y="207568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tocado, CC / CC  →  q_v ★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099048" y="2441448"/>
            <a:ext cx="0" cy="621792"/>
          </a:xfrm>
          <a:prstGeom prst="line">
            <a:avLst/>
          </a:prstGeom>
          <a:noFill/>
          <a:ln w="10160">
            <a:solidFill>
              <a:srgbClr val="E65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5760" y="5559552"/>
            <a:ext cx="11430000" cy="868680"/>
          </a:xfrm>
          <a:prstGeom prst="roundRect">
            <a:avLst>
              <a:gd name="adj" fmla="val 6316"/>
            </a:avLst>
          </a:prstGeom>
          <a:solidFill>
            <a:srgbClr val="F6F8FA"/>
          </a:solidFill>
          <a:ln w="8890">
            <a:solidFill>
              <a:srgbClr val="E1E4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2920" y="56509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Leyenda: 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737360" y="5943600"/>
            <a:ext cx="320040" cy="0"/>
          </a:xfrm>
          <a:prstGeom prst="line">
            <a:avLst/>
          </a:prstGeom>
          <a:noFill/>
          <a:ln w="25400">
            <a:solidFill>
              <a:srgbClr val="1565C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103120" y="58247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 q_a→q_d: avance (PUSH)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206240" y="5943600"/>
            <a:ext cx="320040" cy="0"/>
          </a:xfrm>
          <a:prstGeom prst="line">
            <a:avLst/>
          </a:prstGeom>
          <a:noFill/>
          <a:ln w="25400">
            <a:solidFill>
              <a:srgbClr val="C6282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0" y="58247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 q_d→q_a: retirada (POP)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675120" y="5943600"/>
            <a:ext cx="320040" cy="0"/>
          </a:xfrm>
          <a:prstGeom prst="line">
            <a:avLst/>
          </a:prstGeom>
          <a:noFill/>
          <a:ln w="25400">
            <a:solidFill>
              <a:srgbClr val="5860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40880" y="58247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- q_d→q_a: parada_fallida (NO-OP)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144000" y="5943600"/>
            <a:ext cx="320040" cy="0"/>
          </a:xfrm>
          <a:prstGeom prst="line">
            <a:avLst/>
          </a:prstGeom>
          <a:noFill/>
          <a:ln w="25400">
            <a:solidFill>
              <a:srgbClr val="E651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509760" y="58247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 q_a→q_v: tocado (VICTORIA)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02920" y="621792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Notación:  símbolo_leído, tope / nueva_pila  |  ε = solo pop (sin push)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565C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Tabla de Transiciones δ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reglas  |  notación: δ(estado, símbolo, tope) = (nuevo_estado, nueva_pila, operación)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47472" y="1170432"/>
            <a:ext cx="11475720" cy="347472"/>
          </a:xfrm>
          <a:prstGeom prst="rect">
            <a:avLst/>
          </a:prstGeom>
          <a:solidFill>
            <a:srgbClr val="1565C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274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94944" y="1188720"/>
            <a:ext cx="411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61288" y="118872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874520" y="1188720"/>
            <a:ext cx="1508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438144" y="1188720"/>
            <a:ext cx="5303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023360" y="118872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Est.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36592" y="1188720"/>
            <a:ext cx="685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77256" y="1188720"/>
            <a:ext cx="548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080760" y="1188720"/>
            <a:ext cx="2834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Significado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47472" y="1554480"/>
            <a:ext cx="11475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9344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94944" y="1609344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161288" y="1609344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874520" y="160934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38144" y="1609344"/>
            <a:ext cx="5303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023360" y="1609344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36592" y="1609344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477256" y="160934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080760" y="1609344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garde → largo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47472" y="1901952"/>
            <a:ext cx="11475720" cy="338328"/>
          </a:xfrm>
          <a:prstGeom prst="rect">
            <a:avLst/>
          </a:prstGeom>
          <a:solidFill>
            <a:srgbClr val="F6F8F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1956816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94944" y="1956816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61288" y="1956816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874520" y="1956816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438144" y="1956816"/>
            <a:ext cx="5303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023360" y="1956816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736592" y="1956816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L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477256" y="1956816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M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080760" y="1956816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 → medio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47472" y="2249424"/>
            <a:ext cx="11475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2304288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94944" y="2304288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161288" y="2304288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874520" y="2304288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438144" y="2304288"/>
            <a:ext cx="5303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023360" y="2304288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736592" y="2304288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M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477256" y="230428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C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080760" y="2304288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→ corto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47472" y="2596896"/>
            <a:ext cx="11475720" cy="338328"/>
          </a:xfrm>
          <a:prstGeom prst="rect">
            <a:avLst/>
          </a:prstGeom>
          <a:solidFill>
            <a:srgbClr val="F6F8F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2651760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94944" y="2651760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1161288" y="2651760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874520" y="2651760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3438144" y="2651760"/>
            <a:ext cx="5303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023360" y="2651760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736592" y="2651760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 C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477256" y="265176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CC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080760" y="2651760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 → corps-à-corps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47472" y="2944368"/>
            <a:ext cx="11475720" cy="338328"/>
          </a:xfrm>
          <a:prstGeom prst="rect">
            <a:avLst/>
          </a:prstGeom>
          <a:solidFill>
            <a:srgbClr val="FFF3E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7472" y="2944368"/>
            <a:ext cx="11475720" cy="0"/>
          </a:xfrm>
          <a:prstGeom prst="line">
            <a:avLst/>
          </a:prstGeom>
          <a:noFill/>
          <a:ln w="12700">
            <a:solidFill>
              <a:srgbClr val="E1E4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" y="2999232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694944" y="2999232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1161288" y="2999232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1874520" y="2999232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3438144" y="2999232"/>
            <a:ext cx="5303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4023360" y="2999232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4736592" y="2999232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5477256" y="2999232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VICTORIA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6080760" y="2999232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tocado válido — VICTORIA ★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347472" y="3291840"/>
            <a:ext cx="11475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3346704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694944" y="3346704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1161288" y="3346704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1874520" y="334670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3438144" y="3346704"/>
            <a:ext cx="5303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4023360" y="3346704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4736592" y="3346704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ε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5477256" y="334670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6080760" y="3346704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retrocede a en garde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347472" y="3639312"/>
            <a:ext cx="11475720" cy="338328"/>
          </a:xfrm>
          <a:prstGeom prst="rect">
            <a:avLst/>
          </a:prstGeom>
          <a:solidFill>
            <a:srgbClr val="F6F8F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65760" y="3694176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694944" y="3694176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1161288" y="3694176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1874520" y="3694176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3438144" y="3694176"/>
            <a:ext cx="5303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4023360" y="3694176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4736592" y="3694176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ε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5477256" y="3694176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6080760" y="3694176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retrocede a largo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47472" y="3986784"/>
            <a:ext cx="11475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65760" y="4041648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694944" y="4041648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1161288" y="4041648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1874520" y="4041648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</a:t>
            </a:r>
            <a:endParaRPr lang="en-US" sz="950" dirty="0"/>
          </a:p>
        </p:txBody>
      </p:sp>
      <p:sp>
        <p:nvSpPr>
          <p:cNvPr id="91" name="Text 89"/>
          <p:cNvSpPr/>
          <p:nvPr/>
        </p:nvSpPr>
        <p:spPr>
          <a:xfrm>
            <a:off x="3438144" y="4041648"/>
            <a:ext cx="5303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4023360" y="4041648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4736592" y="4041648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ε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5477256" y="404164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6080760" y="4041648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retrocede a medio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347472" y="4334256"/>
            <a:ext cx="11475720" cy="338328"/>
          </a:xfrm>
          <a:prstGeom prst="rect">
            <a:avLst/>
          </a:prstGeom>
          <a:solidFill>
            <a:srgbClr val="F6F8F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47472" y="4334256"/>
            <a:ext cx="11475720" cy="0"/>
          </a:xfrm>
          <a:prstGeom prst="line">
            <a:avLst/>
          </a:prstGeom>
          <a:noFill/>
          <a:ln w="12700">
            <a:solidFill>
              <a:srgbClr val="E1E4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65760" y="4389120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694944" y="4389120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1161288" y="4389120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1874520" y="4389120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3438144" y="4389120"/>
            <a:ext cx="5303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4023360" y="4389120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4736592" y="4389120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ε</a:t>
            </a:r>
            <a:endParaRPr lang="en-US" sz="950" dirty="0"/>
          </a:p>
        </p:txBody>
      </p:sp>
      <p:sp>
        <p:nvSpPr>
          <p:cNvPr id="105" name="Text 103"/>
          <p:cNvSpPr/>
          <p:nvPr/>
        </p:nvSpPr>
        <p:spPr>
          <a:xfrm>
            <a:off x="5477256" y="438912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endParaRPr lang="en-US" sz="950" dirty="0"/>
          </a:p>
        </p:txBody>
      </p:sp>
      <p:sp>
        <p:nvSpPr>
          <p:cNvPr id="106" name="Text 104"/>
          <p:cNvSpPr/>
          <p:nvPr/>
        </p:nvSpPr>
        <p:spPr>
          <a:xfrm>
            <a:off x="6080760" y="4389120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retrocede a corto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347472" y="4681728"/>
            <a:ext cx="11475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365760" y="4736592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694944" y="4736592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1161288" y="4736592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874520" y="4736592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parada_fallida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3438144" y="4736592"/>
            <a:ext cx="5303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4023360" y="4736592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114" name="Text 112"/>
          <p:cNvSpPr/>
          <p:nvPr/>
        </p:nvSpPr>
        <p:spPr>
          <a:xfrm>
            <a:off x="4736592" y="4736592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950" dirty="0"/>
          </a:p>
        </p:txBody>
      </p:sp>
      <p:sp>
        <p:nvSpPr>
          <p:cNvPr id="115" name="Text 113"/>
          <p:cNvSpPr/>
          <p:nvPr/>
        </p:nvSpPr>
        <p:spPr>
          <a:xfrm>
            <a:off x="5477256" y="4736592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NO-OP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6080760" y="4736592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mantiene largo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347472" y="5029200"/>
            <a:ext cx="11475720" cy="338328"/>
          </a:xfrm>
          <a:prstGeom prst="rect">
            <a:avLst/>
          </a:prstGeom>
          <a:solidFill>
            <a:srgbClr val="F6F8F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65760" y="5084064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694944" y="5084064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1161288" y="5084064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1874520" y="5084064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parada_fallida</a:t>
            </a:r>
            <a:endParaRPr lang="en-US" sz="950" dirty="0"/>
          </a:p>
        </p:txBody>
      </p:sp>
      <p:sp>
        <p:nvSpPr>
          <p:cNvPr id="122" name="Text 120"/>
          <p:cNvSpPr/>
          <p:nvPr/>
        </p:nvSpPr>
        <p:spPr>
          <a:xfrm>
            <a:off x="3438144" y="5084064"/>
            <a:ext cx="5303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950" dirty="0"/>
          </a:p>
        </p:txBody>
      </p:sp>
      <p:sp>
        <p:nvSpPr>
          <p:cNvPr id="123" name="Text 121"/>
          <p:cNvSpPr/>
          <p:nvPr/>
        </p:nvSpPr>
        <p:spPr>
          <a:xfrm>
            <a:off x="4023360" y="5084064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4736592" y="5084064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950" dirty="0"/>
          </a:p>
        </p:txBody>
      </p:sp>
      <p:sp>
        <p:nvSpPr>
          <p:cNvPr id="125" name="Text 123"/>
          <p:cNvSpPr/>
          <p:nvPr/>
        </p:nvSpPr>
        <p:spPr>
          <a:xfrm>
            <a:off x="5477256" y="508406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NO-OP</a:t>
            </a:r>
            <a:endParaRPr lang="en-US" sz="950" dirty="0"/>
          </a:p>
        </p:txBody>
      </p:sp>
      <p:sp>
        <p:nvSpPr>
          <p:cNvPr id="126" name="Text 124"/>
          <p:cNvSpPr/>
          <p:nvPr/>
        </p:nvSpPr>
        <p:spPr>
          <a:xfrm>
            <a:off x="6080760" y="5084064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mantiene medio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347472" y="5376672"/>
            <a:ext cx="11475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365760" y="5431536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694944" y="5431536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950" dirty="0"/>
          </a:p>
        </p:txBody>
      </p:sp>
      <p:sp>
        <p:nvSpPr>
          <p:cNvPr id="130" name="Text 128"/>
          <p:cNvSpPr/>
          <p:nvPr/>
        </p:nvSpPr>
        <p:spPr>
          <a:xfrm>
            <a:off x="1161288" y="5431536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950" dirty="0"/>
          </a:p>
        </p:txBody>
      </p:sp>
      <p:sp>
        <p:nvSpPr>
          <p:cNvPr id="131" name="Text 129"/>
          <p:cNvSpPr/>
          <p:nvPr/>
        </p:nvSpPr>
        <p:spPr>
          <a:xfrm>
            <a:off x="1874520" y="5431536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parada_fallida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3438144" y="5431536"/>
            <a:ext cx="5303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4023360" y="5431536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4736592" y="5431536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5477256" y="5431536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NO-OP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6080760" y="5431536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mantiene corto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347472" y="5724144"/>
            <a:ext cx="11475720" cy="338328"/>
          </a:xfrm>
          <a:prstGeom prst="rect">
            <a:avLst/>
          </a:prstGeom>
          <a:solidFill>
            <a:srgbClr val="F6F8F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365760" y="5779008"/>
            <a:ext cx="274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</p:txBody>
      </p:sp>
      <p:sp>
        <p:nvSpPr>
          <p:cNvPr id="139" name="Text 137"/>
          <p:cNvSpPr/>
          <p:nvPr/>
        </p:nvSpPr>
        <p:spPr>
          <a:xfrm>
            <a:off x="694944" y="5779008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950" dirty="0"/>
          </a:p>
        </p:txBody>
      </p:sp>
      <p:sp>
        <p:nvSpPr>
          <p:cNvPr id="140" name="Text 138"/>
          <p:cNvSpPr/>
          <p:nvPr/>
        </p:nvSpPr>
        <p:spPr>
          <a:xfrm>
            <a:off x="1161288" y="5779008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1874520" y="5779008"/>
            <a:ext cx="1508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parada_fallida</a:t>
            </a:r>
            <a:endParaRPr lang="en-US" sz="950" dirty="0"/>
          </a:p>
        </p:txBody>
      </p:sp>
      <p:sp>
        <p:nvSpPr>
          <p:cNvPr id="142" name="Text 140"/>
          <p:cNvSpPr/>
          <p:nvPr/>
        </p:nvSpPr>
        <p:spPr>
          <a:xfrm>
            <a:off x="3438144" y="5779008"/>
            <a:ext cx="5303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950" dirty="0"/>
          </a:p>
        </p:txBody>
      </p:sp>
      <p:sp>
        <p:nvSpPr>
          <p:cNvPr id="143" name="Text 141"/>
          <p:cNvSpPr/>
          <p:nvPr/>
        </p:nvSpPr>
        <p:spPr>
          <a:xfrm>
            <a:off x="4023360" y="5779008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144" name="Text 142"/>
          <p:cNvSpPr/>
          <p:nvPr/>
        </p:nvSpPr>
        <p:spPr>
          <a:xfrm>
            <a:off x="4736592" y="5779008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950" dirty="0"/>
          </a:p>
        </p:txBody>
      </p:sp>
      <p:sp>
        <p:nvSpPr>
          <p:cNvPr id="145" name="Text 143"/>
          <p:cNvSpPr/>
          <p:nvPr/>
        </p:nvSpPr>
        <p:spPr>
          <a:xfrm>
            <a:off x="5477256" y="577900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NO-OP</a:t>
            </a:r>
            <a:endParaRPr lang="en-US" sz="950" dirty="0"/>
          </a:p>
        </p:txBody>
      </p:sp>
      <p:sp>
        <p:nvSpPr>
          <p:cNvPr id="146" name="Text 144"/>
          <p:cNvSpPr/>
          <p:nvPr/>
        </p:nvSpPr>
        <p:spPr>
          <a:xfrm>
            <a:off x="6080760" y="5779008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mantiene CC</a:t>
            </a:r>
            <a:endParaRPr lang="en-US" sz="900" dirty="0"/>
          </a:p>
        </p:txBody>
      </p:sp>
      <p:sp>
        <p:nvSpPr>
          <p:cNvPr id="147" name="Shape 14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565C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Justificación del Diseño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PDA y no Autómata Finito (AFD)?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70432"/>
            <a:ext cx="3547872" cy="2743200"/>
          </a:xfrm>
          <a:prstGeom prst="roundRect">
            <a:avLst>
              <a:gd name="adj" fmla="val 2000"/>
            </a:avLst>
          </a:prstGeom>
          <a:solidFill>
            <a:srgbClr val="E8F5E9"/>
          </a:solidFill>
          <a:ln w="889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26187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📥  PUSH — avance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5488" y="1627632"/>
            <a:ext cx="3310128" cy="0"/>
          </a:xfrm>
          <a:prstGeom prst="line">
            <a:avLst/>
          </a:prstGeom>
          <a:noFill/>
          <a:ln w="635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6916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avance apila la nueva posición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198424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encima de la pila.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2276856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256946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 antes:  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286207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→ PUSH 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31546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 después: L 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114800" y="1170432"/>
            <a:ext cx="3547872" cy="2743200"/>
          </a:xfrm>
          <a:prstGeom prst="roundRect">
            <a:avLst>
              <a:gd name="adj" fmla="val 2000"/>
            </a:avLst>
          </a:prstGeom>
          <a:solidFill>
            <a:srgbClr val="FFEBEE"/>
          </a:solidFill>
          <a:ln w="8890">
            <a:solidFill>
              <a:srgbClr val="C628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24528" y="126187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POP — retirada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224528" y="1627632"/>
            <a:ext cx="3310128" cy="0"/>
          </a:xfrm>
          <a:prstGeom prst="line">
            <a:avLst/>
          </a:prstGeom>
          <a:noFill/>
          <a:ln w="6350">
            <a:solidFill>
              <a:srgbClr val="C628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51960" y="16916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retirada desapila el tope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51960" y="198424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volviendo al estado previo exacto.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251960" y="2276856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251960" y="256946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 antes:  M L G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251960" y="286207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→ POP M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251960" y="31546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 después: L 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863840" y="1170432"/>
            <a:ext cx="3547872" cy="2743200"/>
          </a:xfrm>
          <a:prstGeom prst="roundRect">
            <a:avLst>
              <a:gd name="adj" fmla="val 2000"/>
            </a:avLst>
          </a:prstGeom>
          <a:solidFill>
            <a:srgbClr val="F6F8FA"/>
          </a:solidFill>
          <a:ln w="8890">
            <a:solidFill>
              <a:srgbClr val="E1E4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73568" y="126187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NO-OP — parada fallida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973568" y="1627632"/>
            <a:ext cx="3310128" cy="0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1000" y="16916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parada fallida no modifica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01000" y="198424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001000" y="2276856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001000" y="256946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 antes:  C M L 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01000" y="286207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parada_fallida → sin cambio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01000" y="31546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 después: C M L G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65760" y="4114800"/>
            <a:ext cx="11430000" cy="2148840"/>
          </a:xfrm>
          <a:prstGeom prst="roundRect">
            <a:avLst>
              <a:gd name="adj" fmla="val 2553"/>
            </a:avLst>
          </a:prstGeom>
          <a:solidFill>
            <a:srgbClr val="E3F0FB"/>
          </a:solidFill>
          <a:ln w="8890">
            <a:solidFill>
              <a:srgbClr val="1565C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420624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es necesario un PDA y no alcanza un AFD?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02920" y="4572000"/>
            <a:ext cx="11109960" cy="0"/>
          </a:xfrm>
          <a:prstGeom prst="line">
            <a:avLst/>
          </a:prstGeom>
          <a:noFill/>
          <a:ln w="6350">
            <a:solidFill>
              <a:srgbClr val="E1E4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6634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Un AFD tiene memoria finita: no puede recordar cuántos avances se realizaron.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48640" y="5010912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Si O hace retiradas múltiples, el AFD no sabe a qué posición exacta regresar.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48640" y="5358384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La pila resuelve esto: cada POP siempre devuelve exactamente al estado anterior, sin importar la profundidad.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48640" y="5705856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Esta necesidad de "recordar historia" es lo que formalmente justifica usar un PDA sobre un AFD.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565C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Traza Aceptada ✅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· parada_fallida · avance · retirada · avance · avance · parada_fallida · tocado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47472" y="1170432"/>
            <a:ext cx="11475720" cy="347472"/>
          </a:xfrm>
          <a:prstGeom prst="rect">
            <a:avLst/>
          </a:prstGeom>
          <a:solidFill>
            <a:srgbClr val="2E7D3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411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41248" y="1188720"/>
            <a:ext cx="685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591056" y="1188720"/>
            <a:ext cx="1554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209544" y="1188720"/>
            <a:ext cx="548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22192" y="1188720"/>
            <a:ext cx="548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34840" y="11887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13248" y="1188720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 resultante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47472" y="1554480"/>
            <a:ext cx="11475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609344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41248" y="1609344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591056" y="1609344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209544" y="160934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822192" y="160934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inicio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434840" y="160934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413248" y="160934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47472" y="1901952"/>
            <a:ext cx="11475720" cy="338328"/>
          </a:xfrm>
          <a:prstGeom prst="rect">
            <a:avLst/>
          </a:prstGeom>
          <a:solidFill>
            <a:srgbClr val="F6F8F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1956816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41248" y="1956816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591056" y="1956816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209544" y="1956816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822192" y="1956816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434840" y="1956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L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13248" y="1956816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47472" y="2249424"/>
            <a:ext cx="11475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2304288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41248" y="2304288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591056" y="230428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parada_fallida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209544" y="230428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822192" y="230428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#10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434840" y="2304288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NO-OP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413248" y="230428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G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47472" y="2596896"/>
            <a:ext cx="11475720" cy="338328"/>
          </a:xfrm>
          <a:prstGeom prst="rect">
            <a:avLst/>
          </a:prstGeom>
          <a:solidFill>
            <a:srgbClr val="F6F8F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2651760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41248" y="2651760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591056" y="2651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209544" y="265176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822192" y="265176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434840" y="265176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M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413248" y="2651760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L G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47472" y="2944368"/>
            <a:ext cx="11475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2999232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41248" y="2999232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1591056" y="2999232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3209544" y="2999232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3822192" y="2999232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#7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434840" y="2999232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M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413248" y="2999232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G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47472" y="3291840"/>
            <a:ext cx="11475720" cy="338328"/>
          </a:xfrm>
          <a:prstGeom prst="rect">
            <a:avLst/>
          </a:prstGeom>
          <a:solidFill>
            <a:srgbClr val="F6F8F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3346704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841248" y="3346704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1591056" y="3346704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3209544" y="334670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3822192" y="334670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4434840" y="334670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M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5413248" y="334670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L G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347472" y="3639312"/>
            <a:ext cx="11475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3694176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841248" y="3694176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1591056" y="3694176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parada_fallida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3209544" y="3694176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3822192" y="3694176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#11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4434840" y="369417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NO-OP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5413248" y="3694176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L G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47472" y="3986784"/>
            <a:ext cx="11475720" cy="338328"/>
          </a:xfrm>
          <a:prstGeom prst="rect">
            <a:avLst/>
          </a:prstGeom>
          <a:solidFill>
            <a:srgbClr val="F6F8F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65760" y="4041648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841248" y="4041648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1591056" y="404164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3209544" y="404164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3822192" y="404164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4434840" y="4041648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C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5413248" y="404164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M L G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347472" y="4334256"/>
            <a:ext cx="114757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65760" y="4389120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841248" y="4389120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1591056" y="438912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3209544" y="438912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3822192" y="438912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#4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4434840" y="438912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CC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5413248" y="4389120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 C M L G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347472" y="4681728"/>
            <a:ext cx="11475720" cy="338328"/>
          </a:xfrm>
          <a:prstGeom prst="rect">
            <a:avLst/>
          </a:prstGeom>
          <a:solidFill>
            <a:srgbClr val="F6F8F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65760" y="4736592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841248" y="4736592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591056" y="4736592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parada_fallida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3209544" y="4736592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3822192" y="4736592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#13</a:t>
            </a:r>
            <a:endParaRPr lang="en-US" sz="950" dirty="0"/>
          </a:p>
        </p:txBody>
      </p:sp>
      <p:sp>
        <p:nvSpPr>
          <p:cNvPr id="91" name="Text 89"/>
          <p:cNvSpPr/>
          <p:nvPr/>
        </p:nvSpPr>
        <p:spPr>
          <a:xfrm>
            <a:off x="4434840" y="4736592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NO-OP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5413248" y="4736592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 C M L G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347472" y="5029200"/>
            <a:ext cx="11475720" cy="338328"/>
          </a:xfrm>
          <a:prstGeom prst="rect">
            <a:avLst/>
          </a:prstGeom>
          <a:solidFill>
            <a:srgbClr val="FFF3E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65760" y="5084064"/>
            <a:ext cx="411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841248" y="5084064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1591056" y="5084064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3209544" y="508406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3822192" y="508406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#5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4434840" y="508406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q_v ★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5413248" y="508406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ACEPTA ✅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347472" y="6309360"/>
            <a:ext cx="11475720" cy="320040"/>
          </a:xfrm>
          <a:prstGeom prst="roundRect">
            <a:avLst>
              <a:gd name="adj" fmla="val 17143"/>
            </a:avLst>
          </a:prstGeom>
          <a:solidFill>
            <a:srgbClr val="E8F5E9"/>
          </a:solidFill>
          <a:ln w="8890">
            <a:solidFill>
              <a:srgbClr val="2E7D32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02920" y="635508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paso 4, la retirada deshace M→L. A debe re-avanzar. La pila conservó el historial completo de posiciones.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565C0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Traza Rechazada ❌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· retirada · tocado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47472" y="1170432"/>
            <a:ext cx="11475720" cy="347472"/>
          </a:xfrm>
          <a:prstGeom prst="rect">
            <a:avLst/>
          </a:prstGeom>
          <a:solidFill>
            <a:srgbClr val="C6282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411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" y="1188720"/>
            <a:ext cx="685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645920" y="1188720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926080" y="1188720"/>
            <a:ext cx="548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566160" y="1188720"/>
            <a:ext cx="1508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166360" y="1188720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46520" y="118872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47472" y="1554480"/>
            <a:ext cx="114757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6642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68680" y="166420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645920" y="166420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926080" y="166420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66160" y="1664208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166360" y="166420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46520" y="166420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47472" y="2057400"/>
            <a:ext cx="11475720" cy="457200"/>
          </a:xfrm>
          <a:prstGeom prst="rect">
            <a:avLst/>
          </a:prstGeom>
          <a:solidFill>
            <a:srgbClr val="F6F8F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216712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68680" y="216712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645920" y="216712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26080" y="216712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566160" y="2167128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166360" y="216712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L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46520" y="216712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G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47472" y="2560320"/>
            <a:ext cx="114757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267004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68680" y="267004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645920" y="267004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926080" y="267004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566160" y="2670048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#6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166360" y="267004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L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446520" y="267004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47472" y="3063240"/>
            <a:ext cx="11475720" cy="457200"/>
          </a:xfrm>
          <a:prstGeom prst="rect">
            <a:avLst/>
          </a:prstGeom>
          <a:solidFill>
            <a:srgbClr val="FFEBE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1729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6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68680" y="317296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1645920" y="317296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29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926080" y="317296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566160" y="3172968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no definida —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166360" y="317296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 TRANSICIÓN ✗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446520" y="317296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RECHAZA ❌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47472" y="3703320"/>
            <a:ext cx="11475720" cy="1417320"/>
          </a:xfrm>
          <a:prstGeom prst="roundRect">
            <a:avLst>
              <a:gd name="adj" fmla="val 3871"/>
            </a:avLst>
          </a:prstGeom>
          <a:solidFill>
            <a:srgbClr val="FFEBEE"/>
          </a:solidFill>
          <a:ln w="8890">
            <a:solidFill>
              <a:srgbClr val="C6282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2920" y="3794760"/>
            <a:ext cx="11155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Razón del Rechazo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02920" y="4142232"/>
            <a:ext cx="11064240" cy="0"/>
          </a:xfrm>
          <a:prstGeom prst="line">
            <a:avLst/>
          </a:prstGeom>
          <a:noFill/>
          <a:ln w="6350">
            <a:solidFill>
              <a:srgbClr val="FFC1C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420624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δ(q_a, tocado, G) no está definida en la tabla de transiciones.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548640" y="448056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"tocado" solo es válido cuando el tope de la pila es CC (corps-à-corps).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48640" y="475488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 retiró hasta G antes de que A pudiese rematar → no existe transición → la cadena se rechaza.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347472" y="5257800"/>
            <a:ext cx="11475720" cy="1143000"/>
          </a:xfrm>
          <a:prstGeom prst="roundRect">
            <a:avLst>
              <a:gd name="adj" fmla="val 4800"/>
            </a:avLst>
          </a:prstGeom>
          <a:solidFill>
            <a:srgbClr val="F6F8FA"/>
          </a:solidFill>
          <a:ln w="8890">
            <a:solidFill>
              <a:srgbClr val="E1E4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02920" y="5349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Semánticamente: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02920" y="565099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perdió toda ventaja de posición. Intentar "tocado" desde la guardia inicial (G) no tiene efecto válido.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02920" y="592531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cadena no pertenece al lenguaje reconocido por el PDA.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565C0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— Criterios de Evaluación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 grupal · 10 minutos · Oficina del Profesor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47472" y="1170432"/>
            <a:ext cx="8686800" cy="493776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Contexto del dominio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1444752"/>
            <a:ext cx="6583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Esgrima, roles, 5 posiciones, condición de victoria (~2 min)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9070848" y="1243584"/>
            <a:ext cx="804672" cy="347472"/>
          </a:xfrm>
          <a:prstGeom prst="rect">
            <a:avLst/>
          </a:prstGeom>
          <a:solidFill>
            <a:srgbClr val="E3F0FB"/>
          </a:solidFill>
          <a:ln w="889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70848" y="1261872"/>
            <a:ext cx="804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" y="1700784"/>
            <a:ext cx="868680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73736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Justificación del dominio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1975104"/>
            <a:ext cx="6583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PDA: 2 roles, secuencialidad, reversibilidad, 1 ganador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070848" y="1773936"/>
            <a:ext cx="804672" cy="347472"/>
          </a:xfrm>
          <a:prstGeom prst="rect">
            <a:avLst/>
          </a:prstGeom>
          <a:solidFill>
            <a:srgbClr val="E3F0FB"/>
          </a:solidFill>
          <a:ln w="889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70848" y="1792224"/>
            <a:ext cx="804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7472" y="2231136"/>
            <a:ext cx="8686800" cy="493776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267712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Definición formal del PDA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2505456"/>
            <a:ext cx="6583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Q, Σ, Γ, δ, q₀, Z₀, F  +  diagrama  +  tabla de transiciones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070848" y="2304288"/>
            <a:ext cx="804672" cy="347472"/>
          </a:xfrm>
          <a:prstGeom prst="rect">
            <a:avLst/>
          </a:prstGeom>
          <a:solidFill>
            <a:srgbClr val="E3F0FB"/>
          </a:solidFill>
          <a:ln w="889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70848" y="2322576"/>
            <a:ext cx="804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7472" y="2761488"/>
            <a:ext cx="868680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798064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Justificación de decisiones de diseño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3035808"/>
            <a:ext cx="6583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Semántica de la pila, push/pop, PDA vs AFD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070848" y="2834640"/>
            <a:ext cx="804672" cy="347472"/>
          </a:xfrm>
          <a:prstGeom prst="rect">
            <a:avLst/>
          </a:prstGeom>
          <a:solidFill>
            <a:srgbClr val="E3F0FB"/>
          </a:solidFill>
          <a:ln w="8890">
            <a:solidFill>
              <a:srgbClr val="1565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70848" y="2852928"/>
            <a:ext cx="804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47472" y="3291840"/>
            <a:ext cx="8686800" cy="493776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328416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Traza aceptada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0080" y="3566160"/>
            <a:ext cx="6583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a paso con estado y pila en cada transición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070848" y="3364992"/>
            <a:ext cx="804672" cy="347472"/>
          </a:xfrm>
          <a:prstGeom prst="rect">
            <a:avLst/>
          </a:prstGeom>
          <a:solidFill>
            <a:srgbClr val="E3F0FB"/>
          </a:solidFill>
          <a:ln w="8890">
            <a:solidFill>
              <a:srgbClr val="1565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70848" y="3383280"/>
            <a:ext cx="804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47472" y="3822192"/>
            <a:ext cx="868680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85876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Traza rechazada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40080" y="4096512"/>
            <a:ext cx="6583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razón exacta del rechazo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070848" y="3895344"/>
            <a:ext cx="804672" cy="347472"/>
          </a:xfrm>
          <a:prstGeom prst="rect">
            <a:avLst/>
          </a:prstGeom>
          <a:solidFill>
            <a:srgbClr val="E3F0FB"/>
          </a:solidFill>
          <a:ln w="8890">
            <a:solidFill>
              <a:srgbClr val="1565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70848" y="3913632"/>
            <a:ext cx="804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pts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47472" y="4352544"/>
            <a:ext cx="8686800" cy="493776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38912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Preguntas y dominio del tema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40080" y="4626864"/>
            <a:ext cx="6583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profe puede pedir trazar cadenas nuevas — todos deben responder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70848" y="4425696"/>
            <a:ext cx="804672" cy="347472"/>
          </a:xfrm>
          <a:prstGeom prst="rect">
            <a:avLst/>
          </a:prstGeom>
          <a:solidFill>
            <a:srgbClr val="E3F0FB"/>
          </a:solidFill>
          <a:ln w="8890">
            <a:solidFill>
              <a:srgbClr val="1565C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070848" y="4443984"/>
            <a:ext cx="804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pts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47472" y="4901184"/>
            <a:ext cx="8686800" cy="457200"/>
          </a:xfrm>
          <a:prstGeom prst="rect">
            <a:avLst/>
          </a:prstGeom>
          <a:solidFill>
            <a:srgbClr val="1565C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2920" y="4974336"/>
            <a:ext cx="6858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070848" y="4974336"/>
            <a:ext cx="804672" cy="310896"/>
          </a:xfrm>
          <a:prstGeom prst="rect">
            <a:avLst/>
          </a:prstGeom>
          <a:solidFill>
            <a:srgbClr val="FFF3E0"/>
          </a:solidFill>
          <a:ln w="8890">
            <a:solidFill>
              <a:srgbClr val="E651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070848" y="4974336"/>
            <a:ext cx="804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0149840" y="1170432"/>
            <a:ext cx="1691640" cy="4572000"/>
          </a:xfrm>
          <a:prstGeom prst="roundRect">
            <a:avLst>
              <a:gd name="adj" fmla="val 3243"/>
            </a:avLst>
          </a:prstGeom>
          <a:solidFill>
            <a:srgbClr val="F6F8FA"/>
          </a:solidFill>
          <a:ln w="8890">
            <a:solidFill>
              <a:srgbClr val="E1E4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241280" y="1261872"/>
            <a:ext cx="1508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0195560" y="1627632"/>
            <a:ext cx="1600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8890">
            <a:solidFill>
              <a:srgbClr val="E1E4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241280" y="1664208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profe puede pedir trazar una cadena nueva en el momento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10195560" y="2340864"/>
            <a:ext cx="1600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8890">
            <a:solidFill>
              <a:srgbClr val="E1E4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241280" y="237744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deben dominar PDA vs AFD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0195560" y="3054096"/>
            <a:ext cx="1600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8890">
            <a:solidFill>
              <a:srgbClr val="E1E4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241280" y="3090672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atrasos — 10 min exactos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195560" y="3767328"/>
            <a:ext cx="1600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8890">
            <a:solidFill>
              <a:srgbClr val="E1E4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241280" y="3803904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4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en el modelado formal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7472" y="546811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8890">
            <a:solidFill>
              <a:srgbClr val="2E7D3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2920" y="55412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tiempo sugerida: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251960" y="5541264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→ 2 min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400800" y="554126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PDA → 4-5 min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02920" y="58338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86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Trazas → 3 min   (criterios 1–6)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565C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2026-07-01T20:06:59Z</dcterms:created>
  <dcterms:modified xsi:type="dcterms:W3CDTF">2026-07-01T20:06:59Z</dcterms:modified>
</cp:coreProperties>
</file>